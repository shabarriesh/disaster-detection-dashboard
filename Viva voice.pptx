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75" r:id="rId6"/>
    <p:sldId id="276" r:id="rId7"/>
    <p:sldId id="277" r:id="rId8"/>
    <p:sldId id="260" r:id="rId9"/>
    <p:sldId id="271" r:id="rId10"/>
    <p:sldId id="267" r:id="rId11"/>
    <p:sldId id="268" r:id="rId12"/>
    <p:sldId id="272" r:id="rId13"/>
    <p:sldId id="269" r:id="rId14"/>
    <p:sldId id="261" r:id="rId15"/>
    <p:sldId id="278" r:id="rId16"/>
    <p:sldId id="262" r:id="rId17"/>
    <p:sldId id="274" r:id="rId18"/>
    <p:sldId id="263" r:id="rId19"/>
    <p:sldId id="279" r:id="rId20"/>
    <p:sldId id="264" r:id="rId21"/>
    <p:sldId id="281" r:id="rId22"/>
    <p:sldId id="265" r:id="rId23"/>
    <p:sldId id="26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9"/>
    <p:restoredTop sz="94660"/>
  </p:normalViewPr>
  <p:slideViewPr>
    <p:cSldViewPr snapToGrid="0">
      <p:cViewPr>
        <p:scale>
          <a:sx n="117" d="100"/>
          <a:sy n="117" d="100"/>
        </p:scale>
        <p:origin x="360"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4D7B1-9491-442D-9A5D-4D006D23128F}"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F58212-50F9-4429-B688-C5B3FC765DD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0" name="Google Shape;10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0877" y="1322386"/>
            <a:ext cx="10363200" cy="1470025"/>
          </a:xfrm>
        </p:spPr>
        <p:txBody>
          <a:bodyPr/>
          <a:lstStyle>
            <a:lvl1pPr>
              <a:defRPr>
                <a:solidFill>
                  <a:schemeClr val="tx2">
                    <a:lumMod val="75000"/>
                  </a:schemeClr>
                </a:solidFill>
              </a:defRPr>
            </a:lvl1pPr>
          </a:lstStyle>
          <a:p>
            <a:r>
              <a:rPr lang="en-US"/>
              <a:t>Click to edit Master title style</a:t>
            </a:r>
            <a:endParaRPr lang="en-US"/>
          </a:p>
        </p:txBody>
      </p:sp>
      <p:sp>
        <p:nvSpPr>
          <p:cNvPr id="3" name="Subtitle 2"/>
          <p:cNvSpPr>
            <a:spLocks noGrp="1"/>
          </p:cNvSpPr>
          <p:nvPr>
            <p:ph type="subTitle" idx="1"/>
          </p:nvPr>
        </p:nvSpPr>
        <p:spPr>
          <a:xfrm>
            <a:off x="2032000" y="3326641"/>
            <a:ext cx="8534400" cy="1752600"/>
          </a:xfrm>
        </p:spPr>
        <p:txBody>
          <a:bodyPr>
            <a:normAutofit/>
          </a:bodyPr>
          <a:lstStyle>
            <a:lvl1pPr marL="0" indent="0" algn="ctr">
              <a:buNone/>
              <a:defRPr sz="2000" b="1">
                <a:solidFill>
                  <a:schemeClr val="tx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lumMod val="75000"/>
                  </a:schemeClr>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FF0000"/>
                </a:solidFill>
              </a:defRPr>
            </a:lvl1pPr>
          </a:lstStyle>
          <a:p>
            <a:r>
              <a:rPr lang="en-US"/>
              <a:t>Click to edit Master title style</a:t>
            </a:r>
            <a:endParaRPr lang="en-US" dirty="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4994CE30-7D40-4BC0-BA0D-56C992D5B4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9368" y="304800"/>
            <a:ext cx="10668000" cy="487362"/>
          </a:xfrm>
        </p:spPr>
        <p:txBody>
          <a:bodyPr/>
          <a:lstStyle>
            <a:lvl1pPr>
              <a:defRPr>
                <a:solidFill>
                  <a:srgbClr val="FF0000"/>
                </a:solidFill>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994CE30-7D40-4BC0-BA0D-56C992D5B4BD}"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60800" y="274638"/>
            <a:ext cx="7721600" cy="487362"/>
          </a:xfr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4994CE30-7D40-4BC0-BA0D-56C992D5B4BD}"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BCD3F7E-62B3-4FB9-95CE-D1B0CC271B85}" type="slidenum">
              <a:rPr lang="en-GB" smtClean="0"/>
            </a:fld>
            <a:endParaRPr lang="en-GB"/>
          </a:p>
        </p:txBody>
      </p:sp>
      <p:pic>
        <p:nvPicPr>
          <p:cNvPr id="2051" name="Picture 3" descr="C:\Users\AMMU\Desktop\Border.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05209" y="139874"/>
            <a:ext cx="9686793" cy="6983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94CE30-7D40-4BC0-BA0D-56C992D5B4BD}"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994CE30-7D40-4BC0-BA0D-56C992D5B4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994CE30-7D40-4BC0-BA0D-56C992D5B4BD}"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994CE30-7D40-4BC0-BA0D-56C992D5B4BD}"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BCD3F7E-62B3-4FB9-95CE-D1B0CC271B85}"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274638"/>
            <a:ext cx="10668000" cy="4873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12800" y="1143001"/>
            <a:ext cx="10668000" cy="4952997"/>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4994CE30-7D40-4BC0-BA0D-56C992D5B4BD}" type="datetimeFigureOut">
              <a:rPr lang="en-GB" smtClean="0"/>
            </a:fld>
            <a:endParaRPr lang="en-GB"/>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endParaRPr lang="en-GB"/>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latin typeface="Verdana" panose="020B0604030504040204" pitchFamily="34" charset="0"/>
                <a:ea typeface="Verdana" panose="020B0604030504040204" pitchFamily="34" charset="0"/>
                <a:cs typeface="Verdana" panose="020B0604030504040204" pitchFamily="34" charset="0"/>
              </a:defRPr>
            </a:lvl1pPr>
          </a:lstStyle>
          <a:p>
            <a:fld id="{1BCD3F7E-62B3-4FB9-95CE-D1B0CC271B85}" type="slidenum">
              <a:rPr lang="en-GB" smtClean="0"/>
            </a:fld>
            <a:endParaRPr lang="en-GB"/>
          </a:p>
        </p:txBody>
      </p:sp>
      <p:sp>
        <p:nvSpPr>
          <p:cNvPr id="8" name="Line 6"/>
          <p:cNvSpPr>
            <a:spLocks noChangeShapeType="1"/>
          </p:cNvSpPr>
          <p:nvPr/>
        </p:nvSpPr>
        <p:spPr bwMode="auto">
          <a:xfrm>
            <a:off x="812800" y="914400"/>
            <a:ext cx="10668000" cy="0"/>
          </a:xfrm>
          <a:prstGeom prst="line">
            <a:avLst/>
          </a:prstGeom>
          <a:noFill/>
          <a:ln w="57150" cmpd="thickThin">
            <a:solidFill>
              <a:schemeClr val="tx1"/>
            </a:solidFill>
            <a:round/>
          </a:ln>
          <a:effectLst/>
        </p:spPr>
        <p:txBody>
          <a:bodyPr/>
          <a:lstStyle/>
          <a:p>
            <a:pPr>
              <a:defRPr/>
            </a:pPr>
            <a:endParaRPr lang="en-IN" sz="1800"/>
          </a:p>
        </p:txBody>
      </p:sp>
      <p:pic>
        <p:nvPicPr>
          <p:cNvPr id="7" name="Picture 7"/>
          <p:cNvPicPr>
            <a:picLocks noChangeAspect="1"/>
          </p:cNvPicPr>
          <p:nvPr/>
        </p:nvPicPr>
        <p:blipFill rotWithShape="1">
          <a:blip r:embed="rId12">
            <a:extLst>
              <a:ext uri="{28A0092B-C50C-407E-A947-70E740481C1C}">
                <a14:useLocalDpi xmlns:a14="http://schemas.microsoft.com/office/drawing/2010/main" val="0"/>
              </a:ext>
            </a:extLst>
          </a:blip>
          <a:srcRect b="18045"/>
          <a:stretch>
            <a:fillRect/>
          </a:stretch>
        </p:blipFill>
        <p:spPr bwMode="auto">
          <a:xfrm>
            <a:off x="0" y="5991366"/>
            <a:ext cx="12192000" cy="86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spcBef>
          <a:spcPct val="0"/>
        </a:spcBef>
        <a:buNone/>
        <a:defRPr sz="2800" b="1" kern="1200">
          <a:solidFill>
            <a:srgbClr val="FF0000"/>
          </a:solidFill>
          <a:latin typeface="Verdana" panose="020B0604030504040204" pitchFamily="34" charset="0"/>
          <a:ea typeface="Verdana" panose="020B0604030504040204" pitchFamily="34" charset="0"/>
          <a:cs typeface="Verdana" panose="020B060403050404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742950" indent="-285750" algn="l" defTabSz="914400" rtl="0" eaLnBrk="1" latinLnBrk="0" hangingPunct="1">
        <a:spcBef>
          <a:spcPct val="200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Verdana" panose="020B0604030504040204" pitchFamily="34" charset="0"/>
        </a:defRPr>
      </a:lvl2pPr>
      <a:lvl3pPr marL="1143000" indent="-228600" algn="l" defTabSz="914400" rtl="0" eaLnBrk="1" latinLnBrk="0" hangingPunct="1">
        <a:spcBef>
          <a:spcPct val="200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Verdana" panose="020B0604030504040204" pitchFamily="34" charset="0"/>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Verdana" panose="020B060403050404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image" Target="../media/image5.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panose="020B0604030504040204"/>
              <a:buNone/>
            </a:pPr>
            <a:r>
              <a:rPr lang="en-US" dirty="0">
                <a:solidFill>
                  <a:schemeClr val="tx1"/>
                </a:solidFill>
                <a:latin typeface="Cambria" panose="02040503050406030204" pitchFamily="18" charset="0"/>
                <a:ea typeface="Cambria" panose="02040503050406030204" pitchFamily="18" charset="0"/>
              </a:rPr>
              <a:t> DISASTER DETECTION</a:t>
            </a:r>
            <a:endParaRPr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9" y="2100770"/>
            <a:ext cx="3970500"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a:t>
            </a:r>
            <a:r>
              <a:rPr lang="en-GB" dirty="0">
                <a:solidFill>
                  <a:schemeClr val="tx1"/>
                </a:solidFill>
                <a:latin typeface="Cambria" panose="02040503050406030204" pitchFamily="18" charset="0"/>
                <a:ea typeface="Cambria" panose="02040503050406030204" pitchFamily="18" charset="0"/>
              </a:rPr>
              <a:t>ISD-0</a:t>
            </a:r>
            <a:r>
              <a:rPr lang="en-US" altLang="en-GB" dirty="0">
                <a:solidFill>
                  <a:schemeClr val="tx1"/>
                </a:solidFill>
                <a:latin typeface="Cambria" panose="02040503050406030204" pitchFamily="18" charset="0"/>
                <a:ea typeface="Cambria" panose="02040503050406030204" pitchFamily="18" charset="0"/>
              </a:rPr>
              <a:t>2</a:t>
            </a:r>
            <a:endParaRPr dirty="0">
              <a:solidFill>
                <a:schemeClr val="tx1"/>
              </a:solidFill>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dirty="0">
              <a:solidFill>
                <a:schemeClr val="tx2"/>
              </a:solidFill>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panose="020B0604020202020204"/>
              <a:buNone/>
            </a:pPr>
            <a:endParaRPr sz="20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US" altLang="en-IN" sz="1800" b="1" i="0" u="none" strike="noStrike" dirty="0">
                <a:solidFill>
                  <a:schemeClr val="tx2"/>
                </a:solidFill>
                <a:effectLst/>
                <a:latin typeface="Cambria" panose="02040503050406030204" pitchFamily="18" charset="0"/>
              </a:rPr>
              <a:t>Dr.</a:t>
            </a:r>
            <a:r>
              <a:rPr lang="en-IN" sz="1800" b="1" i="0" u="none" strike="noStrike" dirty="0">
                <a:solidFill>
                  <a:schemeClr val="tx2"/>
                </a:solidFill>
                <a:effectLst/>
                <a:latin typeface="Cambria" panose="02040503050406030204" pitchFamily="18" charset="0"/>
              </a:rPr>
              <a:t> </a:t>
            </a:r>
            <a:r>
              <a:rPr lang="en-US" altLang="en-IN" sz="1800" b="1" i="0" u="none" strike="noStrike" dirty="0">
                <a:solidFill>
                  <a:schemeClr val="tx2"/>
                </a:solidFill>
                <a:effectLst/>
                <a:latin typeface="Cambria" panose="02040503050406030204" pitchFamily="18" charset="0"/>
              </a:rPr>
              <a:t>Sampath A K</a:t>
            </a:r>
            <a:endParaRPr lang="en-IN" sz="1800" b="1" i="0" u="none" strike="noStrike" dirty="0">
              <a:solidFill>
                <a:schemeClr val="tx2"/>
              </a:solidFill>
              <a:effectLst/>
              <a:latin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rPr>
              <a:t>Professor</a:t>
            </a:r>
            <a:endParaRPr lang="en-GB" dirty="0">
              <a:solidFill>
                <a:schemeClr val="tx2"/>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r>
              <a:rPr lang="en-US" altLang="en-GB" sz="17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rPr>
              <a:t>&amp;IS</a:t>
            </a:r>
            <a:endParaRPr dirty="0">
              <a:solidFill>
                <a:schemeClr val="tx2"/>
              </a:solidFill>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solidFill>
                <a:schemeClr val="tx2"/>
              </a:solidFill>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chemeClr val="tx2"/>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60000"/>
          </a:bodyPr>
          <a:lstStyle/>
          <a:p>
            <a:pPr marL="0" marR="0" lvl="0" indent="0" algn="ctr" rtl="0">
              <a:spcBef>
                <a:spcPts val="0"/>
              </a:spcBef>
              <a:spcAft>
                <a:spcPts val="0"/>
              </a:spcAft>
              <a:buClr>
                <a:srgbClr val="17365D"/>
              </a:buClr>
              <a:buSzPct val="100000"/>
              <a:buFont typeface="Arial" panose="020B0604020202020204"/>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PIP</a:t>
            </a:r>
            <a:r>
              <a:rPr lang="en-US" alt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4</a:t>
            </a: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00</a:t>
            </a:r>
            <a:r>
              <a:rPr lang="en-US" alt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4</a:t>
            </a:r>
            <a:r>
              <a:rPr lang="en-GB"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panose="020B0604020202020204"/>
              <a:buNone/>
            </a:pPr>
            <a:r>
              <a:rPr lang="en-US"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VIVA VOICE</a:t>
            </a:r>
            <a:endParaRPr lang="en-US"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a:t>
            </a:r>
            <a:r>
              <a:rPr lang="en-US"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ISD </a:t>
            </a:r>
            <a:endParaRPr lang="en-US"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HoD: </a:t>
            </a:r>
            <a:r>
              <a:rPr lang="en-US" sz="20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PALLAVI R</a:t>
            </a:r>
            <a:endParaRPr lang="en-US" sz="2000" b="1"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 </a:t>
            </a:r>
            <a:r>
              <a:rPr lang="en-US" sz="2000" b="1" dirty="0" err="1">
                <a:latin typeface="Cambria" panose="02040503050406030204" pitchFamily="18" charset="0"/>
                <a:ea typeface="Cambria" panose="02040503050406030204" pitchFamily="18" charset="0"/>
                <a:cs typeface="Verdana" panose="020B0604030504040204"/>
                <a:sym typeface="Verdana" panose="020B0604030504040204"/>
              </a:rPr>
              <a:t>Mr.Srinivas</a:t>
            </a: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Mishra</a:t>
            </a:r>
            <a:endParaRPr lang="en-US"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rPr>
              <a:t>Dr. Sampath A K / Dr. Abdul Khadar A / Mr. Md Ziaur Rahman</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3" name="Table 2"/>
          <p:cNvGraphicFramePr>
            <a:graphicFrameLocks noGrp="1"/>
          </p:cNvGraphicFramePr>
          <p:nvPr/>
        </p:nvGraphicFramePr>
        <p:xfrm>
          <a:off x="500183" y="2519542"/>
          <a:ext cx="4964950" cy="1906001"/>
        </p:xfrm>
        <a:graphic>
          <a:graphicData uri="http://schemas.openxmlformats.org/drawingml/2006/table">
            <a:tbl>
              <a:tblPr firstRow="1" bandRow="1"/>
              <a:tblGrid>
                <a:gridCol w="2482475"/>
                <a:gridCol w="2482475"/>
              </a:tblGrid>
              <a:tr h="45936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GB" sz="1300" b="1" u="none" strike="noStrike" cap="none" dirty="0">
                          <a:solidFill>
                            <a:srgbClr val="17365D"/>
                          </a:solidFill>
                        </a:rPr>
                        <a:t>Roll Number</a:t>
                      </a:r>
                      <a:endParaRPr lang="en-GB" sz="1300" b="1" u="none" strike="noStrike" cap="none" dirty="0">
                        <a:solidFill>
                          <a:srgbClr val="17365D"/>
                        </a:solidFill>
                      </a:endParaRPr>
                    </a:p>
                    <a:p>
                      <a:endParaRPr lang="en-IN" sz="1200" dirty="0"/>
                    </a:p>
                  </a:txBody>
                  <a:tcPr marL="76785" marR="76785" marT="38393" marB="38393"/>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GB" sz="1300" b="1" u="none" strike="noStrike" cap="none" dirty="0">
                          <a:solidFill>
                            <a:srgbClr val="17365D"/>
                          </a:solidFill>
                        </a:rPr>
                        <a:t>Student Name</a:t>
                      </a:r>
                      <a:endParaRPr lang="en-GB" sz="1300" b="1" u="none" strike="noStrike" cap="none" dirty="0">
                        <a:solidFill>
                          <a:srgbClr val="17365D"/>
                        </a:solidFill>
                      </a:endParaRPr>
                    </a:p>
                    <a:p>
                      <a:endParaRPr lang="en-IN" sz="1200" dirty="0"/>
                    </a:p>
                  </a:txBody>
                  <a:tcPr marL="76785" marR="76785" marT="38393" marB="38393"/>
                </a:tc>
              </a:tr>
              <a:tr h="361659">
                <a:tc>
                  <a:txBody>
                    <a:bodyPr/>
                    <a:lstStyle/>
                    <a:p>
                      <a:r>
                        <a:rPr lang="en-IN" sz="1200" dirty="0"/>
                        <a:t>20211ISD00</a:t>
                      </a:r>
                      <a:r>
                        <a:rPr lang="en-US" altLang="en-IN" sz="1200" dirty="0"/>
                        <a:t>30</a:t>
                      </a:r>
                      <a:endParaRPr lang="en-US" altLang="en-IN" sz="1200" dirty="0"/>
                    </a:p>
                  </a:txBody>
                  <a:tcPr marL="76785" marR="76785" marT="38393" marB="38393"/>
                </a:tc>
                <a:tc>
                  <a:txBody>
                    <a:bodyPr/>
                    <a:lstStyle/>
                    <a:p>
                      <a:r>
                        <a:rPr lang="en-US" altLang="en-IN" sz="1200" dirty="0"/>
                        <a:t>A Shabarriesh</a:t>
                      </a:r>
                      <a:endParaRPr lang="en-US" altLang="en-IN" sz="1200" dirty="0"/>
                    </a:p>
                  </a:txBody>
                  <a:tcPr marL="76785" marR="76785" marT="38393" marB="38393"/>
                </a:tc>
              </a:tr>
              <a:tr h="361659">
                <a:tc>
                  <a:txBody>
                    <a:bodyPr/>
                    <a:lstStyle/>
                    <a:p>
                      <a:r>
                        <a:rPr lang="en-IN" sz="1200" dirty="0"/>
                        <a:t>20211ISD00</a:t>
                      </a:r>
                      <a:r>
                        <a:rPr lang="en-US" altLang="en-IN" sz="1200" dirty="0"/>
                        <a:t>09</a:t>
                      </a:r>
                      <a:endParaRPr lang="en-US" altLang="en-IN" sz="1200" dirty="0"/>
                    </a:p>
                  </a:txBody>
                  <a:tcPr marL="76785" marR="76785" marT="38393" marB="38393"/>
                </a:tc>
                <a:tc>
                  <a:txBody>
                    <a:bodyPr/>
                    <a:lstStyle/>
                    <a:p>
                      <a:r>
                        <a:rPr lang="en-US" altLang="en-IN" sz="1200" dirty="0"/>
                        <a:t>A V Rohith Kumar</a:t>
                      </a:r>
                      <a:endParaRPr lang="en-US" altLang="en-IN" sz="1200" dirty="0"/>
                    </a:p>
                  </a:txBody>
                  <a:tcPr marL="76785" marR="76785" marT="38393" marB="38393"/>
                </a:tc>
              </a:tr>
              <a:tr h="361659">
                <a:tc>
                  <a:txBody>
                    <a:bodyPr/>
                    <a:lstStyle/>
                    <a:p>
                      <a:r>
                        <a:rPr lang="en-IN" sz="1200" dirty="0"/>
                        <a:t>20211ISD00</a:t>
                      </a:r>
                      <a:r>
                        <a:rPr lang="en-US" altLang="en-IN" sz="1200" dirty="0"/>
                        <a:t>35</a:t>
                      </a:r>
                      <a:endParaRPr lang="en-US" altLang="en-IN" sz="1200" dirty="0"/>
                    </a:p>
                  </a:txBody>
                  <a:tcPr marL="76785" marR="76785" marT="38393" marB="38393"/>
                </a:tc>
                <a:tc>
                  <a:txBody>
                    <a:bodyPr/>
                    <a:lstStyle/>
                    <a:p>
                      <a:r>
                        <a:rPr lang="en-US" altLang="en-IN" sz="1200" dirty="0"/>
                        <a:t>M B </a:t>
                      </a:r>
                      <a:r>
                        <a:rPr lang="en-IN" sz="1200" dirty="0"/>
                        <a:t>V</a:t>
                      </a:r>
                      <a:r>
                        <a:rPr lang="en-US" altLang="en-IN" sz="1200" dirty="0"/>
                        <a:t> Sandeep Reddy</a:t>
                      </a:r>
                      <a:endParaRPr lang="en-US" altLang="en-IN" sz="1200" dirty="0"/>
                    </a:p>
                  </a:txBody>
                  <a:tcPr marL="76785" marR="76785" marT="38393" marB="38393"/>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a:t>
            </a:r>
            <a:endParaRPr lang="en-GB" dirty="0"/>
          </a:p>
        </p:txBody>
      </p:sp>
      <p:sp>
        <p:nvSpPr>
          <p:cNvPr id="3" name="Content Placeholder 2"/>
          <p:cNvSpPr>
            <a:spLocks noGrp="1"/>
          </p:cNvSpPr>
          <p:nvPr>
            <p:ph idx="1"/>
          </p:nvPr>
        </p:nvSpPr>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Natural disasters have far-reaching consequences, impacting lives, infrastructure, and the environment. To mitigate the damage and enhance disaster preparedness, technology can play a pivotal role in early detection and efficient management. This project focuses on disaster prediction, aiming to detect high probabilities of large-scale natural disasters by processing satellite data alongside human-generated inputs. The system utilizes this data to not only predict the likelihood of imminent disasters but also model the dynamics of post-disaster spread. By understanding these patterns, decision-makers can improve disaster management, leading to timely responses and resource allocation during crises.This project aims to predict the likelihood of large-scale disasters by processing satellite and human-generated data. By using this data, the system can serve as an early warning tool while also modeling the post-disaster spread dynamics, which is crucial for effective disaster management.</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dirty="0"/>
              <a:t>Literature Survey</a:t>
            </a:r>
            <a:endParaRPr lang="en-US" dirty="0"/>
          </a:p>
        </p:txBody>
      </p:sp>
      <p:graphicFrame>
        <p:nvGraphicFramePr>
          <p:cNvPr id="3" name="object 3"/>
          <p:cNvGraphicFramePr>
            <a:graphicFrameLocks noGrp="1"/>
          </p:cNvGraphicFramePr>
          <p:nvPr/>
        </p:nvGraphicFramePr>
        <p:xfrm>
          <a:off x="823684" y="1079501"/>
          <a:ext cx="10657116" cy="4849584"/>
        </p:xfrm>
        <a:graphic>
          <a:graphicData uri="http://schemas.openxmlformats.org/drawingml/2006/table">
            <a:tbl>
              <a:tblPr/>
              <a:tblGrid>
                <a:gridCol w="789416"/>
                <a:gridCol w="1480185"/>
                <a:gridCol w="1874833"/>
                <a:gridCol w="986770"/>
                <a:gridCol w="1381477"/>
                <a:gridCol w="1480155"/>
                <a:gridCol w="1332140"/>
                <a:gridCol w="1332140"/>
              </a:tblGrid>
              <a:tr h="438148">
                <a:tc>
                  <a:txBody>
                    <a:bodyPr/>
                    <a:lstStyle>
                      <a:lvl1pPr marL="1492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492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S.No</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635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635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Author(s)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Title</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81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81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Year</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101600"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0160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Methodology</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68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68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Inferences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3003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3003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1907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1907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r>
              <a:tr h="1614031">
                <a:tc>
                  <a:txBody>
                    <a:bodyPr/>
                    <a:lstStyle/>
                    <a:p>
                      <a:pPr algn="r" fontAlgn="b"/>
                      <a:r>
                        <a:rPr sz="1100">
                          <a:latin typeface="Arial" panose="020B0604020202020204"/>
                          <a:ea typeface="Arial" panose="020B0604020202020204"/>
                        </a:rPr>
                        <a:t>1</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Vinay Chamola ,  Vikas Hassija , Sakshi Gupta , Adit Goyal ,</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Mohsen Guizani , and Biplab Sikdar</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Disaster and Pandemic Management Using</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Machine Learning: A Survey</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a:t>
                      </a:r>
                      <a:r>
                        <a:rPr lang="en-US" sz="1100">
                          <a:latin typeface="Arial" panose="020B0604020202020204"/>
                          <a:ea typeface="Arial" panose="020B0604020202020204"/>
                        </a:rPr>
                        <a:t>21</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Machine Learning, Neural Networks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Machine learning can accurately predict natural disasters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High prediction accuracy, Quick response time</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Requires large, high-quality datasets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r h="1614031">
                <a:tc>
                  <a:txBody>
                    <a:bodyPr/>
                    <a:lstStyle/>
                    <a:p>
                      <a:pPr algn="r" fontAlgn="b"/>
                      <a:r>
                        <a:rPr sz="1100">
                          <a:latin typeface="Arial" panose="020B0604020202020204"/>
                          <a:ea typeface="Arial" panose="020B0604020202020204"/>
                        </a:rPr>
                        <a:t>2</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Harshita Jain</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Renu Dhupper </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Anamika Shrivastava</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Deepak Kumarand Maya Kumari</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Leveraging machine learning</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algorithms for improved disaster</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preparedness and response</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through accurate weather pattern</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and natural disaster prediction</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algn="r" fontAlgn="b"/>
                      <a:r>
                        <a:rPr sz="1100">
                          <a:latin typeface="Arial" panose="020B0604020202020204"/>
                          <a:ea typeface="Arial" panose="020B0604020202020204"/>
                        </a:rPr>
                        <a:t>202</a:t>
                      </a:r>
                      <a:r>
                        <a:rPr lang="en-US" sz="1100">
                          <a:latin typeface="Arial" panose="020B0604020202020204"/>
                          <a:ea typeface="Arial" panose="020B0604020202020204"/>
                        </a:rPr>
                        <a:t>3</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sz="1100">
                          <a:latin typeface="Arial" panose="020B0604020202020204"/>
                          <a:ea typeface="Arial" panose="020B0604020202020204"/>
                        </a:rPr>
                        <a:t>Predictive Analytics </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Disaster Prediction</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Satellite data enhances early warning for disasters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Real-time monitoring, Covers large geographical areas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Expensive infrastructure, Dependent on satellite availability</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r>
              <a:tr h="1183374">
                <a:tc>
                  <a:txBody>
                    <a:bodyPr/>
                    <a:lstStyle/>
                    <a:p>
                      <a:pPr algn="r" fontAlgn="b"/>
                      <a:r>
                        <a:rPr sz="1100">
                          <a:latin typeface="Arial" panose="020B0604020202020204"/>
                          <a:ea typeface="Arial" panose="020B0604020202020204"/>
                        </a:rPr>
                        <a:t>3</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Alaa Taiseer Farghaly</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Ngahzaifa Binti Ab Ghani</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Abbas Saliimi Lokman</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A Review on Disaster Prediction Using Machine Learning</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202</a:t>
                      </a:r>
                      <a:r>
                        <a:rPr lang="en-US" sz="1100">
                          <a:latin typeface="Arial" panose="020B0604020202020204"/>
                          <a:ea typeface="Arial" panose="020B0604020202020204"/>
                        </a:rPr>
                        <a:t>4</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Predictive Analytics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Predictive models can reduce the impact of flood disasters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Early detection, Reduced risk of property damage</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IoT sensor network setup is costly, Requires constant monitoring</a:t>
                      </a:r>
                      <a:endParaRPr sz="1100">
                        <a:latin typeface="Arial" panose="020B0604020202020204"/>
                        <a:ea typeface="Arial" panose="020B0604020202020204"/>
                      </a:endParaRPr>
                    </a:p>
                  </a:txBody>
                  <a:tcPr marL="0" marR="0"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dirty="0"/>
              <a:t>Literature Survey</a:t>
            </a:r>
            <a:endParaRPr lang="en-US" dirty="0"/>
          </a:p>
        </p:txBody>
      </p:sp>
      <p:graphicFrame>
        <p:nvGraphicFramePr>
          <p:cNvPr id="3" name="object 3"/>
          <p:cNvGraphicFramePr>
            <a:graphicFrameLocks noGrp="1"/>
          </p:cNvGraphicFramePr>
          <p:nvPr/>
        </p:nvGraphicFramePr>
        <p:xfrm>
          <a:off x="823684" y="1079501"/>
          <a:ext cx="10657116" cy="4849584"/>
        </p:xfrm>
        <a:graphic>
          <a:graphicData uri="http://schemas.openxmlformats.org/drawingml/2006/table">
            <a:tbl>
              <a:tblPr/>
              <a:tblGrid>
                <a:gridCol w="789416"/>
                <a:gridCol w="1480155"/>
                <a:gridCol w="1874863"/>
                <a:gridCol w="986770"/>
                <a:gridCol w="1381477"/>
                <a:gridCol w="1480155"/>
                <a:gridCol w="1332140"/>
                <a:gridCol w="1332140"/>
              </a:tblGrid>
              <a:tr h="438148">
                <a:tc>
                  <a:txBody>
                    <a:bodyPr/>
                    <a:lstStyle>
                      <a:lvl1pPr marL="1492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492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S.No</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635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635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Author(s)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Title</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81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81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Year</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101600"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0160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Methodology</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68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68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Inferences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3003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3003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1907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1907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r>
              <a:tr h="1614031">
                <a:tc>
                  <a:txBody>
                    <a:bodyPr/>
                    <a:lstStyle/>
                    <a:p>
                      <a:pPr algn="r" fontAlgn="b"/>
                      <a:r>
                        <a:rPr sz="1100">
                          <a:latin typeface="Arial" panose="020B0604020202020204"/>
                          <a:ea typeface="Arial" panose="020B0604020202020204"/>
                        </a:rPr>
                        <a:t>4</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Paul Michael Z Labis</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Machine Learning for Disaster Risk Reduction - Review and Research</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Directions</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202</a:t>
                      </a:r>
                      <a:r>
                        <a:rPr lang="en-US" sz="1100">
                          <a:latin typeface="Arial" panose="020B0604020202020204"/>
                          <a:ea typeface="Arial" panose="020B0604020202020204"/>
                        </a:rPr>
                        <a:t>4</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sz="1100">
                          <a:latin typeface="Arial" panose="020B0604020202020204"/>
                          <a:ea typeface="Arial" panose="020B0604020202020204"/>
                        </a:rPr>
                        <a:t>Disaster Prediction</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Early Warning Sysytem </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Resource Allocation</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sz="1100">
                          <a:latin typeface="Arial" panose="020B0604020202020204"/>
                          <a:ea typeface="Arial" panose="020B0604020202020204"/>
                        </a:rPr>
                        <a:t>ML</a:t>
                      </a:r>
                      <a:r>
                        <a:rPr sz="1100">
                          <a:latin typeface="Arial" panose="020B0604020202020204"/>
                          <a:ea typeface="Arial" panose="020B0604020202020204"/>
                        </a:rPr>
                        <a:t> models show promising results in predicting earthquakes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Faster and more reliable earthquake predictions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Limited by current data sources, False alarms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r h="1614031">
                <a:tc>
                  <a:txBody>
                    <a:bodyPr/>
                    <a:lstStyle/>
                    <a:p>
                      <a:pPr algn="r" fontAlgn="b"/>
                      <a:r>
                        <a:rPr sz="1100">
                          <a:latin typeface="Arial" panose="020B0604020202020204"/>
                          <a:ea typeface="Arial" panose="020B0604020202020204"/>
                        </a:rPr>
                        <a:t>5</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Md Fakhrul Islam Sumon,Azam Khan,Arifur Rahman,Dileep Kumar Chikwarti</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Machine Learning for Real-Time Disaster Response and Recovery in the U.S</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algn="r" fontAlgn="b"/>
                      <a:r>
                        <a:rPr sz="1100">
                          <a:latin typeface="Arial" panose="020B0604020202020204"/>
                          <a:ea typeface="Arial" panose="020B0604020202020204"/>
                        </a:rPr>
                        <a:t>202</a:t>
                      </a:r>
                      <a:r>
                        <a:rPr lang="en-US" sz="1100">
                          <a:latin typeface="Arial" panose="020B0604020202020204"/>
                          <a:ea typeface="Arial" panose="020B0604020202020204"/>
                        </a:rPr>
                        <a:t>3</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Machine Learning,</a:t>
                      </a:r>
                      <a:endParaRPr sz="1100">
                        <a:latin typeface="Arial" panose="020B0604020202020204"/>
                        <a:ea typeface="Arial" panose="020B0604020202020204"/>
                      </a:endParaRPr>
                    </a:p>
                    <a:p>
                      <a:pPr fontAlgn="b"/>
                      <a:r>
                        <a:rPr lang="en-US" sz="1100">
                          <a:latin typeface="Arial" panose="020B0604020202020204"/>
                          <a:ea typeface="Arial" panose="020B0604020202020204"/>
                        </a:rPr>
                        <a:t>Natural Language Processing</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Supervised and un Supervised learning</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Big data improves the ability to forecast disasters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Better decision-making for disaster preparedness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Computationally intensive, Requires vast data storage</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r>
              <a:tr h="1183374">
                <a:tc>
                  <a:txBody>
                    <a:bodyPr/>
                    <a:lstStyle/>
                    <a:p>
                      <a:pPr algn="r" fontAlgn="b"/>
                      <a:r>
                        <a:rPr sz="1100">
                          <a:latin typeface="Arial" panose="020B0604020202020204"/>
                          <a:ea typeface="Arial" panose="020B0604020202020204"/>
                        </a:rPr>
                        <a:t>6</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Qingsong Xu1</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Yilei Shi2</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Xiao Xiang Zhu1</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DISASTERNETS: EMBEDDING MACHINE LEARNING IN DISASTER MAPPING</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a:t>
                      </a:r>
                      <a:r>
                        <a:rPr lang="en-US" sz="1100">
                          <a:latin typeface="Arial" panose="020B0604020202020204"/>
                          <a:ea typeface="Arial" panose="020B0604020202020204"/>
                        </a:rPr>
                        <a:t>23</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sz="1100">
                          <a:latin typeface="Arial" panose="020B0604020202020204"/>
                          <a:ea typeface="Arial" panose="020B0604020202020204"/>
                        </a:rPr>
                        <a:t>Supervised/Semi Supervised Deep Learning</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Unsupervised Learning and Domain Adaptation </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better map disaster-prone regions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Helps in resource allocation and </a:t>
                      </a:r>
                      <a:endParaRPr sz="1100">
                        <a:latin typeface="Arial" panose="020B0604020202020204"/>
                        <a:ea typeface="Arial" panose="020B0604020202020204"/>
                      </a:endParaRPr>
                    </a:p>
                    <a:p>
                      <a:pPr fontAlgn="b"/>
                      <a:r>
                        <a:rPr lang="en-US" sz="1100">
                          <a:latin typeface="Arial" panose="020B0604020202020204"/>
                          <a:ea typeface="Arial" panose="020B0604020202020204"/>
                        </a:rPr>
                        <a:t>Open Accessibility</a:t>
                      </a:r>
                      <a:endParaRPr sz="1100">
                        <a:latin typeface="Arial" panose="020B0604020202020204"/>
                        <a:ea typeface="Arial" panose="020B0604020202020204"/>
                      </a:endParaRPr>
                    </a:p>
                    <a:p>
                      <a:pPr fontAlgn="b"/>
                      <a:r>
                        <a:rPr sz="1100">
                          <a:latin typeface="Arial" panose="020B0604020202020204"/>
                          <a:ea typeface="Arial" panose="020B0604020202020204"/>
                        </a:rPr>
                        <a:t>evacuation planning</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difficult to collect and</a:t>
                      </a:r>
                      <a:endParaRPr sz="1100">
                        <a:latin typeface="Arial" panose="020B0604020202020204"/>
                        <a:ea typeface="Arial" panose="020B0604020202020204"/>
                      </a:endParaRPr>
                    </a:p>
                    <a:p>
                      <a:pPr fontAlgn="b"/>
                      <a:r>
                        <a:rPr sz="1100">
                          <a:latin typeface="Arial" panose="020B0604020202020204"/>
                          <a:ea typeface="Arial" panose="020B0604020202020204"/>
                        </a:rPr>
                        <a:t>interpret</a:t>
                      </a:r>
                      <a:endParaRPr sz="1100">
                        <a:latin typeface="Arial" panose="020B0604020202020204"/>
                        <a:ea typeface="Arial" panose="020B0604020202020204"/>
                      </a:endParaRPr>
                    </a:p>
                    <a:p>
                      <a:pPr fontAlgn="b"/>
                      <a:r>
                        <a:rPr lang="en-US" sz="1100">
                          <a:latin typeface="Arial" panose="020B0604020202020204"/>
                          <a:ea typeface="Arial" panose="020B0604020202020204"/>
                        </a:rPr>
                        <a:t>Data Quality</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812800" y="274638"/>
            <a:ext cx="10668000" cy="4873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dirty="0"/>
              <a:t>Literature Survey</a:t>
            </a:r>
            <a:endParaRPr lang="en-US" dirty="0"/>
          </a:p>
        </p:txBody>
      </p:sp>
      <p:graphicFrame>
        <p:nvGraphicFramePr>
          <p:cNvPr id="3" name="object 3"/>
          <p:cNvGraphicFramePr>
            <a:graphicFrameLocks noGrp="1"/>
          </p:cNvGraphicFramePr>
          <p:nvPr/>
        </p:nvGraphicFramePr>
        <p:xfrm>
          <a:off x="823684" y="1079501"/>
          <a:ext cx="10657116" cy="4849584"/>
        </p:xfrm>
        <a:graphic>
          <a:graphicData uri="http://schemas.openxmlformats.org/drawingml/2006/table">
            <a:tbl>
              <a:tblPr/>
              <a:tblGrid>
                <a:gridCol w="789416"/>
                <a:gridCol w="1480155"/>
                <a:gridCol w="1874863"/>
                <a:gridCol w="986770"/>
                <a:gridCol w="1381477"/>
                <a:gridCol w="1480155"/>
                <a:gridCol w="1332140"/>
                <a:gridCol w="1332140"/>
              </a:tblGrid>
              <a:tr h="438148">
                <a:tc>
                  <a:txBody>
                    <a:bodyPr/>
                    <a:lstStyle>
                      <a:lvl1pPr marL="1492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492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err="1">
                          <a:ln>
                            <a:noFill/>
                          </a:ln>
                          <a:solidFill>
                            <a:schemeClr val="tx1"/>
                          </a:solidFill>
                          <a:effectLst/>
                          <a:latin typeface="Calibri" panose="020F0502020204030204" pitchFamily="34" charset="0"/>
                          <a:cs typeface="Calibri" panose="020F0502020204030204" pitchFamily="34" charset="0"/>
                        </a:rPr>
                        <a:t>S.No</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635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635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Author(s)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Title</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812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812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Year</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101600"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101600"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Methodology</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368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368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Inferences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30035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30035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c>
                  <a:txBody>
                    <a:bodyPr/>
                    <a:lstStyle>
                      <a:lvl1pPr marL="219075" eaLnBrk="0" hangingPunct="0">
                        <a:spcBef>
                          <a:spcPct val="20000"/>
                        </a:spcBef>
                        <a:defRPr sz="1600">
                          <a:solidFill>
                            <a:schemeClr val="tx1"/>
                          </a:solidFill>
                          <a:latin typeface="Calibri" panose="020F0502020204030204" pitchFamily="34" charset="0"/>
                        </a:defRPr>
                      </a:lvl1pPr>
                      <a:lvl2pPr marL="742950" indent="-285750" eaLnBrk="0" hangingPunct="0">
                        <a:spcBef>
                          <a:spcPct val="20000"/>
                        </a:spcBef>
                        <a:defRPr sz="1600">
                          <a:solidFill>
                            <a:schemeClr val="tx1"/>
                          </a:solidFill>
                          <a:latin typeface="Calibri" panose="020F0502020204030204" pitchFamily="34" charset="0"/>
                        </a:defRPr>
                      </a:lvl2pPr>
                      <a:lvl3pPr marL="1143000" indent="-228600" eaLnBrk="0" hangingPunct="0">
                        <a:spcBef>
                          <a:spcPct val="20000"/>
                        </a:spcBef>
                        <a:defRPr sz="1600">
                          <a:solidFill>
                            <a:schemeClr val="tx1"/>
                          </a:solidFill>
                          <a:latin typeface="Calibri" panose="020F0502020204030204" pitchFamily="34" charset="0"/>
                        </a:defRPr>
                      </a:lvl3pPr>
                      <a:lvl4pPr marL="1600200" indent="-228600" eaLnBrk="0" hangingPunct="0">
                        <a:spcBef>
                          <a:spcPct val="20000"/>
                        </a:spcBef>
                        <a:defRPr sz="1600">
                          <a:solidFill>
                            <a:schemeClr val="tx1"/>
                          </a:solidFill>
                          <a:latin typeface="Calibri" panose="020F0502020204030204" pitchFamily="34" charset="0"/>
                        </a:defRPr>
                      </a:lvl4pPr>
                      <a:lvl5pPr marL="2057400" indent="-228600" eaLnBrk="0" hangingPunct="0">
                        <a:spcBef>
                          <a:spcPct val="20000"/>
                        </a:spcBef>
                        <a:defRPr sz="1600">
                          <a:solidFill>
                            <a:schemeClr val="tx1"/>
                          </a:solidFill>
                          <a:latin typeface="Calibri" panose="020F0502020204030204" pitchFamily="34" charset="0"/>
                        </a:defRPr>
                      </a:lvl5pPr>
                      <a:lvl6pPr marL="2514600" indent="-228600" eaLnBrk="0" fontAlgn="base" hangingPunct="0">
                        <a:spcBef>
                          <a:spcPct val="20000"/>
                        </a:spcBef>
                        <a:spcAft>
                          <a:spcPct val="0"/>
                        </a:spcAft>
                        <a:defRPr sz="1600">
                          <a:solidFill>
                            <a:schemeClr val="tx1"/>
                          </a:solidFill>
                          <a:latin typeface="Calibri" panose="020F0502020204030204" pitchFamily="34" charset="0"/>
                        </a:defRPr>
                      </a:lvl6pPr>
                      <a:lvl7pPr marL="2971800" indent="-228600" eaLnBrk="0" fontAlgn="base" hangingPunct="0">
                        <a:spcBef>
                          <a:spcPct val="20000"/>
                        </a:spcBef>
                        <a:spcAft>
                          <a:spcPct val="0"/>
                        </a:spcAft>
                        <a:defRPr sz="1600">
                          <a:solidFill>
                            <a:schemeClr val="tx1"/>
                          </a:solidFill>
                          <a:latin typeface="Calibri" panose="020F0502020204030204" pitchFamily="34" charset="0"/>
                        </a:defRPr>
                      </a:lvl7pPr>
                      <a:lvl8pPr marL="3429000" indent="-228600" eaLnBrk="0" fontAlgn="base" hangingPunct="0">
                        <a:spcBef>
                          <a:spcPct val="20000"/>
                        </a:spcBef>
                        <a:spcAft>
                          <a:spcPct val="0"/>
                        </a:spcAft>
                        <a:defRPr sz="1600">
                          <a:solidFill>
                            <a:schemeClr val="tx1"/>
                          </a:solidFill>
                          <a:latin typeface="Calibri" panose="020F0502020204030204" pitchFamily="34" charset="0"/>
                        </a:defRPr>
                      </a:lvl8pPr>
                      <a:lvl9pPr marL="3886200" indent="-228600" eaLnBrk="0" fontAlgn="base" hangingPunct="0">
                        <a:spcBef>
                          <a:spcPct val="20000"/>
                        </a:spcBef>
                        <a:spcAft>
                          <a:spcPct val="0"/>
                        </a:spcAft>
                        <a:defRPr sz="1600">
                          <a:solidFill>
                            <a:schemeClr val="tx1"/>
                          </a:solidFill>
                          <a:latin typeface="Calibri" panose="020F0502020204030204" pitchFamily="34" charset="0"/>
                        </a:defRPr>
                      </a:lvl9pPr>
                    </a:lstStyle>
                    <a:p>
                      <a:pPr marL="219075" marR="0" lvl="0" indent="0" algn="ctr" defTabSz="914400" rtl="0" eaLnBrk="1" fontAlgn="base" latinLnBrk="0" hangingPunct="1">
                        <a:lnSpc>
                          <a:spcPct val="100000"/>
                        </a:lnSpc>
                        <a:spcBef>
                          <a:spcPct val="0"/>
                        </a:spcBef>
                        <a:spcAft>
                          <a:spcPct val="0"/>
                        </a:spcAft>
                        <a:buClrTx/>
                        <a:buSzTx/>
                        <a:buFontTx/>
                        <a:buNone/>
                      </a:pPr>
                      <a:r>
                        <a:rPr kumimoji="0" lang="en-US" altLang="en-US" sz="12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Demerits</a:t>
                      </a:r>
                      <a:endParaRPr kumimoji="0" lang="en-US" altLang="en-US" sz="12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4F80BC"/>
                    </a:solidFill>
                  </a:tcPr>
                </a:tc>
              </a:tr>
              <a:tr h="1614031">
                <a:tc>
                  <a:txBody>
                    <a:bodyPr/>
                    <a:lstStyle/>
                    <a:p>
                      <a:pPr algn="r" fontAlgn="b"/>
                      <a:r>
                        <a:rPr sz="1100">
                          <a:latin typeface="Arial" panose="020B0604020202020204"/>
                          <a:ea typeface="Arial" panose="020B0604020202020204"/>
                        </a:rPr>
                        <a:t>7</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sz="1100">
                          <a:latin typeface="Arial" panose="020B0604020202020204"/>
                          <a:ea typeface="Arial" panose="020B0604020202020204"/>
                        </a:rPr>
                        <a:t> Not Given</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lang="en-US" altLang="en-US" sz="1100">
                          <a:latin typeface="Arial" panose="020B0604020202020204"/>
                          <a:ea typeface="Arial" panose="020B0604020202020204"/>
                        </a:rPr>
                        <a:t>Leveraging AI for Natural Disaster Management :</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Takeaways From The Moroccan Earthquake</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202</a:t>
                      </a:r>
                      <a:r>
                        <a:rPr lang="en-US" sz="1100">
                          <a:latin typeface="Arial" panose="020B0604020202020204"/>
                          <a:ea typeface="Arial" panose="020B0604020202020204"/>
                        </a:rPr>
                        <a:t>3</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Machine Learning, Climate Data Analysis</a:t>
                      </a:r>
                      <a:endParaRPr sz="1100">
                        <a:latin typeface="Arial" panose="020B0604020202020204"/>
                        <a:ea typeface="Arial" panose="020B0604020202020204"/>
                      </a:endParaRPr>
                    </a:p>
                    <a:p>
                      <a:pPr fontAlgn="b"/>
                      <a:r>
                        <a:rPr lang="en-US" sz="1100">
                          <a:latin typeface="Arial" panose="020B0604020202020204"/>
                          <a:ea typeface="Arial" panose="020B0604020202020204"/>
                        </a:rPr>
                        <a:t>Damage assessment</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Machine learning models provide early warnings for cyclones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High accuracy in predicting cyclones, Saves lives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Data collection for training models is challenging</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r h="1614031">
                <a:tc>
                  <a:txBody>
                    <a:bodyPr/>
                    <a:lstStyle/>
                    <a:p>
                      <a:pPr algn="r" fontAlgn="b"/>
                      <a:r>
                        <a:rPr sz="1100">
                          <a:latin typeface="Arial" panose="020B0604020202020204"/>
                          <a:ea typeface="Arial" panose="020B0604020202020204"/>
                        </a:rPr>
                        <a:t>8</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Vasileios Linardos </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Maria Drakaki Panagiotis Tzionas</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and Yannis L arnavas</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altLang="en-US" sz="1100">
                          <a:latin typeface="Arial" panose="020B0604020202020204"/>
                          <a:ea typeface="Arial" panose="020B0604020202020204"/>
                        </a:rPr>
                        <a:t>Machine Learning in Disaster Management: Recent</a:t>
                      </a:r>
                      <a:endParaRPr lang="en-US" altLang="en-US" sz="1100">
                        <a:latin typeface="Arial" panose="020B0604020202020204"/>
                        <a:ea typeface="Arial" panose="020B0604020202020204"/>
                      </a:endParaRPr>
                    </a:p>
                    <a:p>
                      <a:pPr fontAlgn="b"/>
                      <a:r>
                        <a:rPr lang="en-US" altLang="en-US" sz="1100">
                          <a:latin typeface="Arial" panose="020B0604020202020204"/>
                          <a:ea typeface="Arial" panose="020B0604020202020204"/>
                        </a:rPr>
                        <a:t>Developments in Methods and Applications</a:t>
                      </a:r>
                      <a:endParaRPr lang="en-US" alt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algn="r" fontAlgn="b"/>
                      <a:r>
                        <a:rPr sz="1100">
                          <a:latin typeface="Arial" panose="020B0604020202020204"/>
                          <a:ea typeface="Arial" panose="020B0604020202020204"/>
                        </a:rPr>
                        <a:t>2022</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sz="1100">
                          <a:latin typeface="Arial" panose="020B0604020202020204"/>
                          <a:ea typeface="Arial" panose="020B0604020202020204"/>
                        </a:rPr>
                        <a:t>Risk and Vulnerability Assessment</a:t>
                      </a:r>
                      <a:endParaRPr lang="en-US" sz="1100">
                        <a:latin typeface="Arial" panose="020B0604020202020204"/>
                        <a:ea typeface="Arial" panose="020B0604020202020204"/>
                      </a:endParaRPr>
                    </a:p>
                    <a:p>
                      <a:pPr fontAlgn="b"/>
                      <a:r>
                        <a:rPr lang="en-US" sz="1100">
                          <a:latin typeface="Arial" panose="020B0604020202020204"/>
                          <a:ea typeface="Arial" panose="020B0604020202020204"/>
                        </a:rPr>
                        <a:t>Disaster Monitoring</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lang="en-US" sz="1100">
                          <a:latin typeface="Arial" panose="020B0604020202020204"/>
                          <a:ea typeface="Arial" panose="020B0604020202020204"/>
                        </a:rPr>
                        <a:t>Ml </a:t>
                      </a:r>
                      <a:r>
                        <a:rPr sz="1100">
                          <a:latin typeface="Arial" panose="020B0604020202020204"/>
                          <a:ea typeface="Arial" panose="020B0604020202020204"/>
                        </a:rPr>
                        <a:t>can be used to predict </a:t>
                      </a:r>
                      <a:r>
                        <a:rPr lang="en-US" sz="1100">
                          <a:latin typeface="Arial" panose="020B0604020202020204"/>
                          <a:ea typeface="Arial" panose="020B0604020202020204"/>
                        </a:rPr>
                        <a:t>earthquake, Hurricane and Floods</a:t>
                      </a:r>
                      <a:endParaRPr lang="en-US"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Faster response to wildfires, Minimizes damage</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c>
                  <a:txBody>
                    <a:bodyPr/>
                    <a:lstStyle/>
                    <a:p>
                      <a:pPr fontAlgn="b"/>
                      <a:r>
                        <a:rPr sz="1100">
                          <a:latin typeface="Arial" panose="020B0604020202020204"/>
                          <a:ea typeface="Arial" panose="020B0604020202020204"/>
                        </a:rPr>
                        <a:t>Dependent on environmental data quality and sensor precision</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E9EDF4"/>
                    </a:solidFill>
                  </a:tcPr>
                </a:tc>
              </a:tr>
              <a:tr h="1183374">
                <a:tc>
                  <a:txBody>
                    <a:bodyPr/>
                    <a:lstStyle/>
                    <a:p>
                      <a:pPr algn="r" fontAlgn="b"/>
                      <a:r>
                        <a:rPr sz="1100">
                          <a:latin typeface="Arial" panose="020B0604020202020204"/>
                          <a:ea typeface="Arial" panose="020B0604020202020204"/>
                        </a:rPr>
                        <a:t>9</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R. Kumar, T. Wang</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Earthquake Prediction Using Neural Networks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algn="r" fontAlgn="b"/>
                      <a:r>
                        <a:rPr sz="1100">
                          <a:latin typeface="Arial" panose="020B0604020202020204"/>
                          <a:ea typeface="Arial" panose="020B0604020202020204"/>
                        </a:rPr>
                        <a:t>2021</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Neural Networks, Seismic Analysis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Neural networks can predict earthquakes within time windows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Increased preparedness, Timely alerts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c>
                  <a:txBody>
                    <a:bodyPr/>
                    <a:lstStyle/>
                    <a:p>
                      <a:pPr fontAlgn="b"/>
                      <a:r>
                        <a:rPr sz="1100">
                          <a:latin typeface="Arial" panose="020B0604020202020204"/>
                          <a:ea typeface="Arial" panose="020B0604020202020204"/>
                        </a:rPr>
                        <a:t>High false-positive rates, Prediction accuracy varies</a:t>
                      </a:r>
                      <a:endParaRPr sz="1100">
                        <a:latin typeface="Arial" panose="020B0604020202020204"/>
                        <a:ea typeface="Arial" panose="020B0604020202020204"/>
                      </a:endParaRPr>
                    </a:p>
                  </a:txBody>
                  <a:tcPr marL="23177" marR="23177" marT="15557" marB="1555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0D8E8"/>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Objectives</a:t>
            </a:r>
            <a:endParaRPr lang="en-GB" dirty="0"/>
          </a:p>
        </p:txBody>
      </p:sp>
      <p:sp>
        <p:nvSpPr>
          <p:cNvPr id="3" name="Content Placeholder 2"/>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primary objective of this project is to develop a system that predicts large-scale natural disasters, such as hurricanes, floods, earthquakes, by processing satellite and human-generated data. The system aims to provide real-time monitoring and issue timely alerts to ensure early detection and intervention. Additionally, it seeks to model the post-disaster spread dynamics. By integrating diverse data sources, the system will enhance the accuracy of predictions, supporting decision-makers in planning evacuations, resource management, and disaster recovery. Ultimately, the goal is to minimize the social, environmental, and economic impacts of natural disasters while creating a scalable and adaptable framework that can be applied to various disaster scenarios globally.</a:t>
            </a: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Proposed Method</a:t>
            </a:r>
            <a:endParaRPr lang="en-GB" dirty="0"/>
          </a:p>
        </p:txBody>
      </p:sp>
      <p:sp>
        <p:nvSpPr>
          <p:cNvPr id="3" name="Content Placeholder 2"/>
          <p:cNvSpPr>
            <a:spLocks noGrp="1"/>
          </p:cNvSpPr>
          <p:nvPr>
            <p:ph idx="1"/>
          </p:nvPr>
        </p:nvSpPr>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The proposed method involves two key phases: disaster prediction and post-disaster spread modeling. In the prediction phase, satellite data will be processed using machine learning algorithms to detect patterns that indicate the likelihood of large-scale natural disasters, such as hurricanes, earthquakes, or floods. This analysis will be complemented by human-generated data, such as social media posts, sensor readings, and local reports, to increase the accuracy and timeliness of the predictions.</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Once a potential disaster is identified, the second phase will focus on modeling the spread dynamics of the disaster's impact. This will involve simulating the progression of the disaster using both historical data and real-time inputs. The model will take into account factors like geographical conditions, population density, and infrastructure to estimate the areas most affected. The combined data-driven insights will help authorities not only predict but also manage disaster scenarios, providing tools for efficient evacuation planning, resource allocation, and damage mitigation.</a:t>
            </a: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Architecture Diagram</a:t>
            </a:r>
            <a:endParaRPr lang="en-GB" dirty="0"/>
          </a:p>
        </p:txBody>
      </p:sp>
      <p:pic>
        <p:nvPicPr>
          <p:cNvPr id="6" name="Content Placeholder 5" descr="err"/>
          <p:cNvPicPr>
            <a:picLocks noGrp="1" noChangeAspect="1"/>
          </p:cNvPicPr>
          <p:nvPr>
            <p:ph idx="1"/>
          </p:nvPr>
        </p:nvPicPr>
        <p:blipFill>
          <a:blip r:embed="rId1"/>
          <a:stretch>
            <a:fillRect/>
          </a:stretch>
        </p:blipFill>
        <p:spPr>
          <a:xfrm>
            <a:off x="3063875" y="1569085"/>
            <a:ext cx="6063615" cy="3980180"/>
          </a:xfrm>
          <a:prstGeom prst="rect">
            <a:avLst/>
          </a:prstGeom>
        </p:spPr>
      </p:pic>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endParaRPr lang="en-GB" dirty="0"/>
          </a:p>
        </p:txBody>
      </p:sp>
      <p:sp>
        <p:nvSpPr>
          <p:cNvPr id="3" name="Content Placeholder 2"/>
          <p:cNvSpPr>
            <a:spLocks noGrp="1"/>
          </p:cNvSpPr>
          <p:nvPr>
            <p:ph idx="1"/>
          </p:nvPr>
        </p:nvSpPr>
        <p:spPr/>
        <p:txBody>
          <a:bodyPr>
            <a:normAutofit fontScale="65000" lnSpcReduction="20000"/>
          </a:bodyPr>
          <a:lstStyle/>
          <a:p>
            <a:pPr marL="0" indent="0">
              <a:buNone/>
            </a:pPr>
            <a:r>
              <a:rPr lang="en-US" b="1" dirty="0">
                <a:latin typeface="Times New Roman" panose="02020603050405020304" pitchFamily="18" charset="0"/>
                <a:cs typeface="Times New Roman" panose="02020603050405020304" pitchFamily="18" charset="0"/>
              </a:rPr>
              <a:t>1. Data Collection and Aggregation Module</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Objective: To gather and consolidate data from multiple sources including satellite imagery, sensor networks, and human-generated inputs like social media, reports, and crowdsourced information.</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Access real-time and historical satellite data.</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Collect data from ground sensors and online platforms.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Aggregate human-generated reports, social media activity, and news articles relevant to disasters.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Ensure data integrity, format consistency, and proper labeling for further analysis.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2. Data Preprocessing and Cleaning Module</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To clean and transform raw data into a usable format for analysis and machine learning models.</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Handle missing, noisy, or inconsistent data.</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Perform normalization, transformation, and feature extraction.</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Synchronize data timestamps across satellite and human-generated data sources.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Label data points for training and validation purposes.</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To offer strategic insights for authorities to manage disaster response efficiently.</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Analyze data from disaster predictions and spread models to assist decision-makers.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Provide visual reports and risk assessments for disaster management.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Recommend resource distribution and evacuation planning based on real-time and forecasted data.</a:t>
            </a: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3">
                                            <p:txEl>
                                              <p:pRg st="15" end="15"/>
                                            </p:txEl>
                                          </p:spTgt>
                                        </p:tgtEl>
                                        <p:attrNameLst>
                                          <p:attrName>style.visibility</p:attrName>
                                        </p:attrNameLst>
                                      </p:cBhvr>
                                      <p:to>
                                        <p:strVal val="visible"/>
                                      </p:to>
                                    </p:set>
                                    <p:anim calcmode="lin" valueType="num">
                                      <p:cBhvr additive="base">
                                        <p:cTn id="9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3">
                                            <p:txEl>
                                              <p:pRg st="16" end="16"/>
                                            </p:txEl>
                                          </p:spTgt>
                                        </p:tgtEl>
                                        <p:attrNameLst>
                                          <p:attrName>style.visibility</p:attrName>
                                        </p:attrNameLst>
                                      </p:cBhvr>
                                      <p:to>
                                        <p:strVal val="visible"/>
                                      </p:to>
                                    </p:set>
                                    <p:anim calcmode="lin" valueType="num">
                                      <p:cBhvr additive="base">
                                        <p:cTn id="10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3">
                                            <p:txEl>
                                              <p:pRg st="17" end="17"/>
                                            </p:txEl>
                                          </p:spTgt>
                                        </p:tgtEl>
                                        <p:attrNameLst>
                                          <p:attrName>style.visibility</p:attrName>
                                        </p:attrNameLst>
                                      </p:cBhvr>
                                      <p:to>
                                        <p:strVal val="visible"/>
                                      </p:to>
                                    </p:set>
                                    <p:anim calcmode="lin" valueType="num">
                                      <p:cBhvr additive="base">
                                        <p:cTn id="10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Modules</a:t>
            </a:r>
            <a:endParaRPr lang="en-GB" dirty="0"/>
          </a:p>
        </p:txBody>
      </p:sp>
      <p:sp>
        <p:nvSpPr>
          <p:cNvPr id="3" name="Content Placeholder 2"/>
          <p:cNvSpPr>
            <a:spLocks noGrp="1"/>
          </p:cNvSpPr>
          <p:nvPr>
            <p:ph idx="1"/>
          </p:nvPr>
        </p:nvSpPr>
        <p:spPr/>
        <p:txBody>
          <a:bodyPr>
            <a:normAutofit fontScale="55000" lnSpcReduction="20000"/>
          </a:bodyPr>
          <a:lstStyle/>
          <a:p>
            <a:pPr marL="0" indent="0">
              <a:buNone/>
            </a:pPr>
            <a:r>
              <a:rPr lang="en-US" b="1" dirty="0">
                <a:latin typeface="Times New Roman" panose="02020603050405020304" pitchFamily="18" charset="0"/>
                <a:cs typeface="Times New Roman" panose="02020603050405020304" pitchFamily="18" charset="0"/>
              </a:rPr>
              <a:t>Disaster Prediction Model Module</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Predict the likelihood of disasters using machine learning algorithms.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Train models using historical disaster patterns.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Implement algorithms such as CNNs or Random Forest to predict disasters.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Continuously update and refine models for real-time predictions.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4. Data Fusion Module</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Combine satellite and human-generated data to enhance prediction accuracy.</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Fuse diverse data inputs to create a comprehensive dataset.</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Weigh data sources by relevance and credibility.</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Improve prediction confidence by integrating various data types.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Post-Disaster Spread Dynamics Module</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Model the spread of disaster impacts to assist in post-event management.</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Simulate disaster impact progression based on real-time inputs.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Consider geographic, infrastructure, and population factors.</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Provide dynamic models to predict disaster spread over time.</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6. Monitoring and Alert Module</a:t>
            </a:r>
            <a:endParaRPr lang="en-US" b="1"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Objective: </a:t>
            </a:r>
            <a:r>
              <a:rPr lang="en-US" dirty="0">
                <a:latin typeface="Times New Roman" panose="02020603050405020304" pitchFamily="18" charset="0"/>
                <a:cs typeface="Times New Roman" panose="02020603050405020304" pitchFamily="18" charset="0"/>
              </a:rPr>
              <a:t>Offer real-time monitoring and issue alerts when disaster likelihood increases.</a:t>
            </a: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Tasks:</a:t>
            </a:r>
            <a:endParaRPr lang="en-US"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Display real-time predictions and spread models on a dashboard.</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Set thresholds for issuing alerts to authorities and the public.</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Implement multi-channel alert mechanisms for timely warnings.</a:t>
            </a:r>
            <a:endParaRPr lang="en-US"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3">
                                            <p:txEl>
                                              <p:pRg st="15" end="15"/>
                                            </p:txEl>
                                          </p:spTgt>
                                        </p:tgtEl>
                                        <p:attrNameLst>
                                          <p:attrName>style.visibility</p:attrName>
                                        </p:attrNameLst>
                                      </p:cBhvr>
                                      <p:to>
                                        <p:strVal val="visible"/>
                                      </p:to>
                                    </p:set>
                                    <p:anim calcmode="lin" valueType="num">
                                      <p:cBhvr additive="base">
                                        <p:cTn id="9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3">
                                            <p:txEl>
                                              <p:pRg st="16" end="16"/>
                                            </p:txEl>
                                          </p:spTgt>
                                        </p:tgtEl>
                                        <p:attrNameLst>
                                          <p:attrName>style.visibility</p:attrName>
                                        </p:attrNameLst>
                                      </p:cBhvr>
                                      <p:to>
                                        <p:strVal val="visible"/>
                                      </p:to>
                                    </p:set>
                                    <p:anim calcmode="lin" valueType="num">
                                      <p:cBhvr additive="base">
                                        <p:cTn id="10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3">
                                            <p:txEl>
                                              <p:pRg st="17" end="17"/>
                                            </p:txEl>
                                          </p:spTgt>
                                        </p:tgtEl>
                                        <p:attrNameLst>
                                          <p:attrName>style.visibility</p:attrName>
                                        </p:attrNameLst>
                                      </p:cBhvr>
                                      <p:to>
                                        <p:strVal val="visible"/>
                                      </p:to>
                                    </p:set>
                                    <p:anim calcmode="lin" valueType="num">
                                      <p:cBhvr additive="base">
                                        <p:cTn id="10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3">
                                            <p:txEl>
                                              <p:pRg st="18" end="18"/>
                                            </p:txEl>
                                          </p:spTgt>
                                        </p:tgtEl>
                                        <p:attrNameLst>
                                          <p:attrName>style.visibility</p:attrName>
                                        </p:attrNameLst>
                                      </p:cBhvr>
                                      <p:to>
                                        <p:strVal val="visible"/>
                                      </p:to>
                                    </p:set>
                                    <p:anim calcmode="lin" valueType="num">
                                      <p:cBhvr additive="base">
                                        <p:cTn id="115"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116" dur="500" fill="hold"/>
                                        <p:tgtEl>
                                          <p:spTgt spid="3">
                                            <p:txEl>
                                              <p:pRg st="18" end="18"/>
                                            </p:tx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3">
                                            <p:txEl>
                                              <p:pRg st="19" end="19"/>
                                            </p:txEl>
                                          </p:spTgt>
                                        </p:tgtEl>
                                        <p:attrNameLst>
                                          <p:attrName>style.visibility</p:attrName>
                                        </p:attrNameLst>
                                      </p:cBhvr>
                                      <p:to>
                                        <p:strVal val="visible"/>
                                      </p:to>
                                    </p:set>
                                    <p:anim calcmode="lin" valueType="num">
                                      <p:cBhvr additive="base">
                                        <p:cTn id="121"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122"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nodeType="clickEffect">
                                  <p:stCondLst>
                                    <p:cond delay="0"/>
                                  </p:stCondLst>
                                  <p:childTnLst>
                                    <p:set>
                                      <p:cBhvr>
                                        <p:cTn id="126" dur="1" fill="hold">
                                          <p:stCondLst>
                                            <p:cond delay="0"/>
                                          </p:stCondLst>
                                        </p:cTn>
                                        <p:tgtEl>
                                          <p:spTgt spid="3">
                                            <p:txEl>
                                              <p:pRg st="20" end="20"/>
                                            </p:txEl>
                                          </p:spTgt>
                                        </p:tgtEl>
                                        <p:attrNameLst>
                                          <p:attrName>style.visibility</p:attrName>
                                        </p:attrNameLst>
                                      </p:cBhvr>
                                      <p:to>
                                        <p:strVal val="visible"/>
                                      </p:to>
                                    </p:set>
                                    <p:anim calcmode="lin" valueType="num">
                                      <p:cBhvr additive="base">
                                        <p:cTn id="127" dur="500" fill="hold"/>
                                        <p:tgtEl>
                                          <p:spTgt spid="3">
                                            <p:txEl>
                                              <p:pRg st="20" end="20"/>
                                            </p:txEl>
                                          </p:spTgt>
                                        </p:tgtEl>
                                        <p:attrNameLst>
                                          <p:attrName>ppt_x</p:attrName>
                                        </p:attrNameLst>
                                      </p:cBhvr>
                                      <p:tavLst>
                                        <p:tav tm="0">
                                          <p:val>
                                            <p:strVal val="#ppt_x"/>
                                          </p:val>
                                        </p:tav>
                                        <p:tav tm="100000">
                                          <p:val>
                                            <p:strVal val="#ppt_x"/>
                                          </p:val>
                                        </p:tav>
                                      </p:tavLst>
                                    </p:anim>
                                    <p:anim calcmode="lin" valueType="num">
                                      <p:cBhvr additive="base">
                                        <p:cTn id="128" dur="500" fill="hold"/>
                                        <p:tgtEl>
                                          <p:spTgt spid="3">
                                            <p:txEl>
                                              <p:pRg st="20" end="20"/>
                                            </p:txEl>
                                          </p:spTgt>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3">
                                            <p:txEl>
                                              <p:pRg st="21" end="21"/>
                                            </p:txEl>
                                          </p:spTgt>
                                        </p:tgtEl>
                                        <p:attrNameLst>
                                          <p:attrName>style.visibility</p:attrName>
                                        </p:attrNameLst>
                                      </p:cBhvr>
                                      <p:to>
                                        <p:strVal val="visible"/>
                                      </p:to>
                                    </p:set>
                                    <p:anim calcmode="lin" valueType="num">
                                      <p:cBhvr additive="base">
                                        <p:cTn id="133" dur="500" fill="hold"/>
                                        <p:tgtEl>
                                          <p:spTgt spid="3">
                                            <p:txEl>
                                              <p:pRg st="21" end="21"/>
                                            </p:txEl>
                                          </p:spTgt>
                                        </p:tgtEl>
                                        <p:attrNameLst>
                                          <p:attrName>ppt_x</p:attrName>
                                        </p:attrNameLst>
                                      </p:cBhvr>
                                      <p:tavLst>
                                        <p:tav tm="0">
                                          <p:val>
                                            <p:strVal val="#ppt_x"/>
                                          </p:val>
                                        </p:tav>
                                        <p:tav tm="100000">
                                          <p:val>
                                            <p:strVal val="#ppt_x"/>
                                          </p:val>
                                        </p:tav>
                                      </p:tavLst>
                                    </p:anim>
                                    <p:anim calcmode="lin" valueType="num">
                                      <p:cBhvr additive="base">
                                        <p:cTn id="134" dur="500" fill="hold"/>
                                        <p:tgtEl>
                                          <p:spTgt spid="3">
                                            <p:txEl>
                                              <p:pRg st="21" end="21"/>
                                            </p:txEl>
                                          </p:spTgt>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nodeType="clickEffect">
                                  <p:stCondLst>
                                    <p:cond delay="0"/>
                                  </p:stCondLst>
                                  <p:childTnLst>
                                    <p:set>
                                      <p:cBhvr>
                                        <p:cTn id="138" dur="1" fill="hold">
                                          <p:stCondLst>
                                            <p:cond delay="0"/>
                                          </p:stCondLst>
                                        </p:cTn>
                                        <p:tgtEl>
                                          <p:spTgt spid="3">
                                            <p:txEl>
                                              <p:pRg st="22" end="22"/>
                                            </p:txEl>
                                          </p:spTgt>
                                        </p:tgtEl>
                                        <p:attrNameLst>
                                          <p:attrName>style.visibility</p:attrName>
                                        </p:attrNameLst>
                                      </p:cBhvr>
                                      <p:to>
                                        <p:strVal val="visible"/>
                                      </p:to>
                                    </p:set>
                                    <p:anim calcmode="lin" valueType="num">
                                      <p:cBhvr additive="base">
                                        <p:cTn id="139" dur="500" fill="hold"/>
                                        <p:tgtEl>
                                          <p:spTgt spid="3">
                                            <p:txEl>
                                              <p:pRg st="22" end="22"/>
                                            </p:txEl>
                                          </p:spTgt>
                                        </p:tgtEl>
                                        <p:attrNameLst>
                                          <p:attrName>ppt_x</p:attrName>
                                        </p:attrNameLst>
                                      </p:cBhvr>
                                      <p:tavLst>
                                        <p:tav tm="0">
                                          <p:val>
                                            <p:strVal val="#ppt_x"/>
                                          </p:val>
                                        </p:tav>
                                        <p:tav tm="100000">
                                          <p:val>
                                            <p:strVal val="#ppt_x"/>
                                          </p:val>
                                        </p:tav>
                                      </p:tavLst>
                                    </p:anim>
                                    <p:anim calcmode="lin" valueType="num">
                                      <p:cBhvr additive="base">
                                        <p:cTn id="140" dur="500" fill="hold"/>
                                        <p:tgtEl>
                                          <p:spTgt spid="3">
                                            <p:txEl>
                                              <p:pRg st="22" end="2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t>Hardware and Software Details</a:t>
            </a:r>
            <a:br>
              <a:rPr lang="en-US" sz="2800" b="1" dirty="0"/>
            </a:br>
            <a:endParaRPr lang="en-GB" dirty="0"/>
          </a:p>
        </p:txBody>
      </p:sp>
      <p:sp>
        <p:nvSpPr>
          <p:cNvPr id="3" name="Content Placeholder 2"/>
          <p:cNvSpPr>
            <a:spLocks noGrp="1"/>
          </p:cNvSpPr>
          <p:nvPr>
            <p:ph idx="1"/>
          </p:nvPr>
        </p:nvSpPr>
        <p:spPr/>
        <p:txBody>
          <a:bodyPr>
            <a:noAutofit/>
          </a:bodyPr>
          <a:lstStyle/>
          <a:p>
            <a:pPr marL="0" indent="0">
              <a:buNone/>
            </a:pPr>
            <a:r>
              <a:rPr lang="en-US" sz="1400" b="1" dirty="0"/>
              <a:t>Hardware and Software Details</a:t>
            </a:r>
            <a:endParaRPr lang="en-US" sz="1400" b="1" dirty="0"/>
          </a:p>
          <a:p>
            <a:pPr marL="0" indent="0">
              <a:buNone/>
            </a:pPr>
            <a:r>
              <a:rPr lang="en-US" sz="1400" dirty="0"/>
              <a:t>Hardware Requirements</a:t>
            </a:r>
            <a:endParaRPr lang="en-US" sz="1400" dirty="0"/>
          </a:p>
          <a:p>
            <a:pPr marL="0" indent="0">
              <a:buNone/>
            </a:pPr>
            <a:r>
              <a:rPr lang="en-US" sz="1400" dirty="0"/>
              <a:t>Processor: Multi-core (e.g., Intel Xeon, AMD Ryzen)</a:t>
            </a:r>
            <a:endParaRPr lang="en-US" sz="1400" dirty="0"/>
          </a:p>
          <a:p>
            <a:pPr marL="0" indent="0">
              <a:buNone/>
            </a:pPr>
            <a:r>
              <a:rPr lang="en-US" sz="1400" dirty="0"/>
              <a:t>RAM: Minimum 8 GB</a:t>
            </a:r>
            <a:endParaRPr lang="en-US" sz="1400" dirty="0"/>
          </a:p>
          <a:p>
            <a:pPr marL="0" indent="0">
              <a:buNone/>
            </a:pPr>
            <a:r>
              <a:rPr lang="en-US" sz="1400" dirty="0"/>
              <a:t>Storage: SSD, at least  512GB</a:t>
            </a:r>
            <a:endParaRPr lang="en-US" sz="1400" dirty="0"/>
          </a:p>
          <a:p>
            <a:pPr marL="0" indent="0">
              <a:buNone/>
            </a:pPr>
            <a:r>
              <a:rPr lang="en-US" sz="1400" dirty="0"/>
              <a:t>Network: High-speed internet (100 Mbps or more)</a:t>
            </a:r>
            <a:endParaRPr lang="en-US" sz="1400" dirty="0"/>
          </a:p>
          <a:p>
            <a:pPr marL="0" indent="0">
              <a:buNone/>
            </a:pPr>
            <a:endParaRPr lang="en-US" sz="1400" dirty="0"/>
          </a:p>
          <a:p>
            <a:pPr marL="0" indent="0">
              <a:buNone/>
            </a:pPr>
            <a:r>
              <a:rPr lang="en-US" sz="1400" b="1" dirty="0"/>
              <a:t>Software Requirements</a:t>
            </a:r>
            <a:endParaRPr lang="en-US" sz="1400" b="1" dirty="0"/>
          </a:p>
          <a:p>
            <a:pPr marL="0" indent="0">
              <a:buNone/>
            </a:pPr>
            <a:r>
              <a:rPr lang="en-US" sz="1400" dirty="0"/>
              <a:t>Operating System:  Windows Server</a:t>
            </a:r>
            <a:endParaRPr lang="en-US" sz="1400" dirty="0"/>
          </a:p>
          <a:p>
            <a:pPr marL="0" indent="0">
              <a:buNone/>
            </a:pPr>
            <a:endParaRPr lang="en-US" sz="1400" dirty="0"/>
          </a:p>
          <a:p>
            <a:pPr marL="0" indent="0">
              <a:buNone/>
            </a:pPr>
            <a:r>
              <a:rPr lang="en-US" sz="1400" b="1" dirty="0"/>
              <a:t>Programming Languages:</a:t>
            </a:r>
            <a:endParaRPr lang="en-US" sz="1400" b="1" dirty="0"/>
          </a:p>
          <a:p>
            <a:pPr marL="0" indent="0">
              <a:buNone/>
            </a:pPr>
            <a:r>
              <a:rPr lang="en-US" sz="1400" dirty="0"/>
              <a:t>Development Tools:</a:t>
            </a:r>
            <a:endParaRPr lang="en-US" sz="1400" dirty="0"/>
          </a:p>
          <a:p>
            <a:pPr marL="0" indent="0">
              <a:buNone/>
            </a:pPr>
            <a:r>
              <a:rPr lang="en-US" sz="1400" dirty="0"/>
              <a:t>Machine Learning</a:t>
            </a:r>
            <a:endParaRPr lang="en-US" sz="1400" dirty="0"/>
          </a:p>
          <a:p>
            <a:pPr marL="0" indent="0">
              <a:buNone/>
            </a:pPr>
            <a:endParaRPr lang="en-US" sz="1400" dirty="0"/>
          </a:p>
          <a:p>
            <a:pPr marL="0" indent="0">
              <a:buNone/>
            </a:pPr>
            <a:r>
              <a:rPr lang="en-US" sz="1400" dirty="0"/>
              <a:t>Libraries: Random Forest, Matplotlib, Pandas</a:t>
            </a:r>
            <a:endParaRPr lang="en-US" sz="1400" dirty="0"/>
          </a:p>
          <a:p>
            <a:pPr marL="0" indent="0">
              <a:buNone/>
            </a:pPr>
            <a:r>
              <a:rPr lang="en-US" sz="1400" dirty="0"/>
              <a:t>Options: MySQL or PostgreSQL (SQL) for structured data, and MongoDB (NoSQL) for unstructured data.</a:t>
            </a:r>
            <a:endParaRPr lang="en-US" sz="1400" dirty="0"/>
          </a:p>
          <a:p>
            <a:pPr marL="0" indent="0">
              <a:buNone/>
            </a:pPr>
            <a:endParaRPr lang="en-US" sz="14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 calcmode="lin" valueType="num">
                                      <p:cBhvr additive="base">
                                        <p:cTn id="3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 calcmode="lin" valueType="num">
                                      <p:cBhvr additive="base">
                                        <p:cTn id="3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anim calcmode="lin" valueType="num">
                                      <p:cBhvr additive="base">
                                        <p:cTn id="4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anim calcmode="lin" valueType="num">
                                      <p:cBhvr additive="base">
                                        <p:cTn id="4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anim calcmode="lin" valueType="num">
                                      <p:cBhvr additive="base">
                                        <p:cTn id="5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xEl>
                                              <p:pRg st="15" end="15"/>
                                            </p:txEl>
                                          </p:spTgt>
                                        </p:tgtEl>
                                        <p:attrNameLst>
                                          <p:attrName>style.visibility</p:attrName>
                                        </p:attrNameLst>
                                      </p:cBhvr>
                                      <p:to>
                                        <p:strVal val="visible"/>
                                      </p:to>
                                    </p:set>
                                    <p:anim calcmode="lin" valueType="num">
                                      <p:cBhvr additive="base">
                                        <p:cTn id="5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a:t>
            </a:r>
            <a:endParaRPr lang="en-GB" dirty="0"/>
          </a:p>
        </p:txBody>
      </p:sp>
      <p:sp>
        <p:nvSpPr>
          <p:cNvPr id="3" name="Content Placeholder 2"/>
          <p:cNvSpPr>
            <a:spLocks noGrp="1"/>
          </p:cNvSpPr>
          <p:nvPr>
            <p:ph idx="1"/>
          </p:nvPr>
        </p:nvSpPr>
        <p:spPr/>
        <p:txBody>
          <a:bodyPr>
            <a:normAutofit fontScale="25000"/>
          </a:bodyPr>
          <a:lstStyle/>
          <a:p>
            <a:pPr marL="0" indent="0">
              <a:buNone/>
            </a:pPr>
            <a:r>
              <a:rPr lang="en-US" sz="4400" dirty="0"/>
              <a:t>The methodology for the disaster prediction and post-disaster spread dynamics project involves several key steps, integrating data collection, processing, modeling, and evaluation:</a:t>
            </a:r>
            <a:endParaRPr lang="en-US" sz="4400" dirty="0"/>
          </a:p>
          <a:p>
            <a:pPr marL="0" indent="0">
              <a:buNone/>
            </a:pPr>
            <a:endParaRPr lang="en-US" sz="4400" dirty="0"/>
          </a:p>
          <a:p>
            <a:pPr marL="0" indent="0">
              <a:buNone/>
            </a:pPr>
            <a:r>
              <a:rPr lang="en-US" sz="4400" b="1" dirty="0"/>
              <a:t>Data Collection:</a:t>
            </a:r>
            <a:endParaRPr lang="en-US" sz="4400" dirty="0"/>
          </a:p>
          <a:p>
            <a:pPr marL="0" indent="0">
              <a:buNone/>
            </a:pPr>
            <a:r>
              <a:rPr lang="en-US" sz="4400" b="1" dirty="0"/>
              <a:t>Satellite Imagery: </a:t>
            </a:r>
            <a:r>
              <a:rPr lang="en-US" sz="4400" dirty="0"/>
              <a:t>Utilize remote sensing technology to gather real-time and historical satellite data related to environmental factors (e.g., temperature, precipitation, vegetation cover) that can indicate potential disasters.</a:t>
            </a:r>
            <a:endParaRPr lang="en-US" sz="4400" dirty="0"/>
          </a:p>
          <a:p>
            <a:pPr marL="0" indent="0">
              <a:buNone/>
            </a:pPr>
            <a:r>
              <a:rPr lang="en-US" sz="4400" b="1" dirty="0"/>
              <a:t>Human-Generated Data: </a:t>
            </a:r>
            <a:r>
              <a:rPr lang="en-US" sz="4400" dirty="0"/>
              <a:t>Aggregate data from social media platforms, news reports, and crowdsourced information to capture public sentiment and reports related to disasters.</a:t>
            </a:r>
            <a:endParaRPr lang="en-US" sz="4400" dirty="0"/>
          </a:p>
          <a:p>
            <a:pPr marL="0" indent="0">
              <a:buNone/>
            </a:pPr>
            <a:r>
              <a:rPr lang="en-US" sz="4400" b="1" dirty="0"/>
              <a:t>Ground-Based Sensors: </a:t>
            </a:r>
            <a:r>
              <a:rPr lang="en-US" sz="4400" dirty="0"/>
              <a:t>Deploy IoT sensors to collect real-time environmental data, such as weather conditions, seismic activity, and air quality.</a:t>
            </a:r>
            <a:endParaRPr lang="en-US" sz="4400" dirty="0"/>
          </a:p>
          <a:p>
            <a:pPr marL="0" indent="0">
              <a:buNone/>
            </a:pPr>
            <a:r>
              <a:rPr lang="en-US" sz="4400" dirty="0"/>
              <a:t>Data Preprocessing:</a:t>
            </a:r>
            <a:endParaRPr lang="en-US" sz="4400" dirty="0"/>
          </a:p>
          <a:p>
            <a:pPr marL="0" indent="0">
              <a:buNone/>
            </a:pPr>
            <a:endParaRPr lang="en-US" sz="4400" dirty="0"/>
          </a:p>
          <a:p>
            <a:pPr marL="0" indent="0">
              <a:buNone/>
            </a:pPr>
            <a:r>
              <a:rPr lang="en-US" sz="4400" b="1" dirty="0"/>
              <a:t>Data Cleaning: </a:t>
            </a:r>
            <a:r>
              <a:rPr lang="en-US" sz="4400" dirty="0"/>
              <a:t>Implement techniques to clean and filter the collected data, removing noise and inconsistencies. Handle missing values and ensure uniformity across different data formats.</a:t>
            </a:r>
            <a:endParaRPr lang="en-US" sz="4400" dirty="0"/>
          </a:p>
          <a:p>
            <a:pPr marL="0" indent="0">
              <a:buNone/>
            </a:pPr>
            <a:r>
              <a:rPr lang="en-US" sz="4400" b="1" dirty="0"/>
              <a:t>Data Normalization and Transformation: </a:t>
            </a:r>
            <a:r>
              <a:rPr lang="en-US" sz="4400" dirty="0"/>
              <a:t>Normalize the data to ensure consistency and transform it into suitable formats for analysis and model training.</a:t>
            </a:r>
            <a:endParaRPr lang="en-US" sz="4400" dirty="0"/>
          </a:p>
          <a:p>
            <a:pPr marL="0" indent="0">
              <a:buNone/>
            </a:pPr>
            <a:r>
              <a:rPr lang="en-US" sz="4400" dirty="0"/>
              <a:t>Disaster Prediction Model Development:</a:t>
            </a:r>
            <a:endParaRPr lang="en-US" sz="4400" dirty="0"/>
          </a:p>
          <a:p>
            <a:pPr marL="0" indent="0">
              <a:buNone/>
            </a:pPr>
            <a:endParaRPr lang="en-US" sz="4400" dirty="0"/>
          </a:p>
          <a:p>
            <a:pPr marL="0" indent="0">
              <a:buNone/>
            </a:pPr>
            <a:r>
              <a:rPr lang="en-US" sz="4400" b="1" dirty="0"/>
              <a:t>Feature Engineering: </a:t>
            </a:r>
            <a:r>
              <a:rPr lang="en-US" sz="4400" dirty="0"/>
              <a:t>Identify and extract relevant features from the processed data that contribute to predicting disaster occurrences. This includes historical trends and environmental indicators.</a:t>
            </a:r>
            <a:endParaRPr lang="en-US" sz="4400" dirty="0"/>
          </a:p>
          <a:p>
            <a:pPr marL="0" indent="0">
              <a:buNone/>
            </a:pPr>
            <a:r>
              <a:rPr lang="en-US" sz="4400" b="1" dirty="0"/>
              <a:t>Model Selection and Training: </a:t>
            </a:r>
            <a:r>
              <a:rPr lang="en-US" sz="4400" dirty="0"/>
              <a:t>Utilize machine learning algorithms (e.g., Random Forest, Support Vector Machines, Convolutional Neural Networks) to train models on historical disaster data. Split the data into training, validation, and test sets to evaluate model performance.</a:t>
            </a:r>
            <a:endParaRPr lang="en-US" sz="4400" dirty="0"/>
          </a:p>
          <a:p>
            <a:pPr marL="0" indent="0">
              <a:buNone/>
            </a:pPr>
            <a:r>
              <a:rPr lang="en-US" sz="4400" b="1" dirty="0"/>
              <a:t>Real-Time Data Integration: </a:t>
            </a:r>
            <a:r>
              <a:rPr lang="en-US" sz="4400" dirty="0"/>
              <a:t>Implement a mechanism to continuously feed real-time data into the prediction models, allowing for dynamic updates and improved accuracy.</a:t>
            </a:r>
            <a:endParaRPr lang="en-US" sz="4400" dirty="0"/>
          </a:p>
          <a:p>
            <a:pPr marL="0" indent="0">
              <a:buNone/>
            </a:pPr>
            <a:endParaRPr lang="en-US" sz="4400" b="1" dirty="0"/>
          </a:p>
          <a:p>
            <a:pPr marL="0" indent="0">
              <a:buNone/>
            </a:pPr>
            <a:endParaRPr lang="en-US" sz="4400"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 calcmode="lin" valueType="num">
                                      <p:cBhvr additive="base">
                                        <p:cTn id="5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2" end="12"/>
                                            </p:txEl>
                                          </p:spTgt>
                                        </p:tgtEl>
                                        <p:attrNameLst>
                                          <p:attrName>style.visibility</p:attrName>
                                        </p:attrNameLst>
                                      </p:cBhvr>
                                      <p:to>
                                        <p:strVal val="visible"/>
                                      </p:to>
                                    </p:set>
                                    <p:anim calcmode="lin" valueType="num">
                                      <p:cBhvr additive="base">
                                        <p:cTn id="6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 calcmode="lin" valueType="num">
                                      <p:cBhvr additive="base">
                                        <p:cTn id="67"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4" end="14"/>
                                            </p:txEl>
                                          </p:spTgt>
                                        </p:tgtEl>
                                        <p:attrNameLst>
                                          <p:attrName>style.visibility</p:attrName>
                                        </p:attrNameLst>
                                      </p:cBhvr>
                                      <p:to>
                                        <p:strVal val="visible"/>
                                      </p:to>
                                    </p:set>
                                    <p:anim calcmode="lin" valueType="num">
                                      <p:cBhvr additive="base">
                                        <p:cTn id="73"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Methodology</a:t>
            </a:r>
            <a:endParaRPr lang="en-GB" dirty="0"/>
          </a:p>
        </p:txBody>
      </p:sp>
      <p:sp>
        <p:nvSpPr>
          <p:cNvPr id="3" name="Content Placeholder 2"/>
          <p:cNvSpPr>
            <a:spLocks noGrp="1"/>
          </p:cNvSpPr>
          <p:nvPr>
            <p:ph idx="1"/>
          </p:nvPr>
        </p:nvSpPr>
        <p:spPr/>
        <p:txBody>
          <a:bodyPr>
            <a:normAutofit fontScale="57500" lnSpcReduction="20000"/>
          </a:bodyPr>
          <a:lstStyle/>
          <a:p>
            <a:pPr marL="0" indent="0">
              <a:buNone/>
            </a:pPr>
            <a:endParaRPr lang="en-US" dirty="0"/>
          </a:p>
          <a:p>
            <a:pPr marL="0" indent="0">
              <a:buNone/>
            </a:pPr>
            <a:r>
              <a:rPr lang="en-US" b="1" dirty="0">
                <a:sym typeface="+mn-ea"/>
              </a:rPr>
              <a:t>Simulation Models: </a:t>
            </a:r>
            <a:r>
              <a:rPr lang="en-US" dirty="0">
                <a:sym typeface="+mn-ea"/>
              </a:rPr>
              <a:t>Develop simulation models to predict how a disaster spreads based on real-time data inputs and geographical features. Use mathematical and computational techniques to model the dynamics of the disaster's impact.</a:t>
            </a:r>
            <a:endParaRPr lang="en-US" dirty="0"/>
          </a:p>
          <a:p>
            <a:pPr marL="0" indent="0">
              <a:buNone/>
            </a:pPr>
            <a:r>
              <a:rPr lang="en-US" b="1" dirty="0">
                <a:sym typeface="+mn-ea"/>
              </a:rPr>
              <a:t>Geospatial Analysis: </a:t>
            </a:r>
            <a:r>
              <a:rPr lang="en-US" dirty="0">
                <a:sym typeface="+mn-ea"/>
              </a:rPr>
              <a:t>Employ geospatial analysis tools to assess factors such as terrain, population density, and infrastructure, which influence the spread and severity of the disaster.</a:t>
            </a:r>
            <a:endParaRPr lang="en-US" dirty="0"/>
          </a:p>
          <a:p>
            <a:pPr marL="0" indent="0">
              <a:buNone/>
            </a:pPr>
            <a:r>
              <a:rPr lang="en-US" dirty="0">
                <a:sym typeface="+mn-ea"/>
              </a:rPr>
              <a:t>Monitoring and Alert System Implementation:</a:t>
            </a:r>
            <a:endParaRPr lang="en-US" dirty="0"/>
          </a:p>
          <a:p>
            <a:pPr marL="0" indent="0">
              <a:buNone/>
            </a:pPr>
            <a:endParaRPr lang="en-US" dirty="0"/>
          </a:p>
          <a:p>
            <a:pPr marL="0" indent="0">
              <a:buNone/>
            </a:pPr>
            <a:r>
              <a:rPr lang="en-US" b="1" dirty="0">
                <a:sym typeface="+mn-ea"/>
              </a:rPr>
              <a:t>Dashboard Development</a:t>
            </a:r>
            <a:r>
              <a:rPr lang="en-US" dirty="0">
                <a:sym typeface="+mn-ea"/>
              </a:rPr>
              <a:t>: Create a real-time dashboard for visualizing disaster predictions and spread models, enabling decision-makers to monitor risks effectively.</a:t>
            </a:r>
            <a:endParaRPr lang="en-US" dirty="0"/>
          </a:p>
          <a:p>
            <a:pPr marL="0" indent="0">
              <a:buNone/>
            </a:pPr>
            <a:r>
              <a:rPr lang="en-US" dirty="0">
                <a:sym typeface="+mn-ea"/>
              </a:rPr>
              <a:t>Alert Mechanism: Establish an alert system that issues notifications based on predefined thresholds and triggers, ensuring timely communication of potential disasters to the relevant authorities and communities.</a:t>
            </a:r>
            <a:endParaRPr lang="en-US" dirty="0">
              <a:sym typeface="+mn-ea"/>
            </a:endParaRPr>
          </a:p>
          <a:p>
            <a:pPr marL="0" indent="0">
              <a:buNone/>
            </a:pPr>
            <a:r>
              <a:rPr lang="en-GB" dirty="0"/>
              <a:t>Evaluation and Validation:</a:t>
            </a:r>
            <a:endParaRPr lang="en-GB" dirty="0"/>
          </a:p>
          <a:p>
            <a:pPr marL="0" indent="0">
              <a:buNone/>
            </a:pPr>
            <a:endParaRPr lang="en-GB" dirty="0"/>
          </a:p>
          <a:p>
            <a:pPr marL="0" indent="0">
              <a:buNone/>
            </a:pPr>
            <a:r>
              <a:rPr lang="en-GB" b="1" dirty="0"/>
              <a:t>Model Performance Assessment: </a:t>
            </a:r>
            <a:r>
              <a:rPr lang="en-GB" dirty="0"/>
              <a:t>Evaluate the performance of prediction models using metrics such as accuracy, precision, recall, and F1 score. Validate models against historical disaster events to ensure reliability.</a:t>
            </a:r>
            <a:endParaRPr lang="en-GB" dirty="0"/>
          </a:p>
          <a:p>
            <a:pPr marL="0" indent="0">
              <a:buNone/>
            </a:pPr>
            <a:r>
              <a:rPr lang="en-GB" dirty="0"/>
              <a:t>Scenario Testing: Conduct scenario-based testing to assess how the system performs under different disaster conditions and to refine the models based on these insights.</a:t>
            </a:r>
            <a:endParaRPr lang="en-GB" dirty="0"/>
          </a:p>
          <a:p>
            <a:pPr marL="0" indent="0">
              <a:buNone/>
            </a:pPr>
            <a:r>
              <a:rPr lang="en-GB" dirty="0"/>
              <a:t>Deployment and Continuous Improvement:</a:t>
            </a:r>
            <a:endParaRPr lang="en-GB" dirty="0"/>
          </a:p>
          <a:p>
            <a:pPr marL="0" indent="0">
              <a:buNone/>
            </a:pPr>
            <a:endParaRPr lang="en-GB" dirty="0"/>
          </a:p>
          <a:p>
            <a:pPr marL="0" indent="0">
              <a:buNone/>
            </a:pPr>
            <a:r>
              <a:rPr lang="en-GB" b="1" dirty="0"/>
              <a:t>System Deployment</a:t>
            </a:r>
            <a:r>
              <a:rPr lang="en-GB" dirty="0"/>
              <a:t>: Deploy the system in a real-world environment, integrating it with local emergency management frameworks and disaster response teams.</a:t>
            </a:r>
            <a:endParaRPr lang="en-GB" dirty="0"/>
          </a:p>
          <a:p>
            <a:pPr marL="0" indent="0">
              <a:buNone/>
            </a:pPr>
            <a:r>
              <a:rPr lang="en-GB" dirty="0"/>
              <a:t>Feedback Loop: Implement a feedback mechanism to continuously gather data on system performance and user experiences, allowing for ongoing improvements and refinements of models and processes.</a:t>
            </a:r>
            <a:endParaRPr lang="en-GB"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 calcmode="lin" valueType="num">
                                      <p:cBhvr additive="base">
                                        <p:cTn id="5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13" end="13"/>
                                            </p:txEl>
                                          </p:spTgt>
                                        </p:tgtEl>
                                        <p:attrNameLst>
                                          <p:attrName>style.visibility</p:attrName>
                                        </p:attrNameLst>
                                      </p:cBhvr>
                                      <p:to>
                                        <p:strVal val="visible"/>
                                      </p:to>
                                    </p:set>
                                    <p:anim calcmode="lin" valueType="num">
                                      <p:cBhvr additive="base">
                                        <p:cTn id="6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anim calcmode="lin" valueType="num">
                                      <p:cBhvr additive="base">
                                        <p:cTn id="6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Timeline of Project</a:t>
            </a:r>
            <a:endParaRPr lang="en-GB" dirty="0"/>
          </a:p>
        </p:txBody>
      </p:sp>
      <p:sp>
        <p:nvSpPr>
          <p:cNvPr id="3" name="Text Box 2"/>
          <p:cNvSpPr txBox="1"/>
          <p:nvPr/>
        </p:nvSpPr>
        <p:spPr>
          <a:xfrm>
            <a:off x="831215" y="988060"/>
            <a:ext cx="10661650" cy="4799965"/>
          </a:xfrm>
          <a:prstGeom prst="rect">
            <a:avLst/>
          </a:prstGeom>
          <a:noFill/>
        </p:spPr>
        <p:txBody>
          <a:bodyPr wrap="square" rtlCol="0">
            <a:spAutoFit/>
          </a:bodyPr>
          <a:p>
            <a:pPr>
              <a:buFont typeface="+mj-lt"/>
              <a:buAutoNum type="arabicPeriod"/>
            </a:pPr>
            <a:r>
              <a:rPr lang="en-US" b="1" dirty="0">
                <a:sym typeface="+mn-ea"/>
              </a:rPr>
              <a:t>Data Collection &amp; Analysis (Weeks 1-2)</a:t>
            </a:r>
            <a:r>
              <a:rPr lang="en-US" dirty="0">
                <a:sym typeface="+mn-ea"/>
              </a:rPr>
              <a:t>:</a:t>
            </a:r>
            <a:endParaRPr lang="en-US" dirty="0"/>
          </a:p>
          <a:p>
            <a:pPr marL="742950" lvl="1" indent="-285750">
              <a:buFont typeface="+mj-lt"/>
              <a:buAutoNum type="arabicPeriod"/>
            </a:pPr>
            <a:r>
              <a:rPr lang="en-US" dirty="0">
                <a:sym typeface="+mn-ea"/>
              </a:rPr>
              <a:t>Gather user interaction data from the e-commerce app.</a:t>
            </a:r>
            <a:endParaRPr lang="en-US" dirty="0"/>
          </a:p>
          <a:p>
            <a:pPr>
              <a:buFont typeface="+mj-lt"/>
              <a:buAutoNum type="arabicPeriod"/>
            </a:pPr>
            <a:r>
              <a:rPr lang="en-US" b="1" dirty="0">
                <a:sym typeface="+mn-ea"/>
              </a:rPr>
              <a:t>Data Preprocessing (Weeks 3-4)</a:t>
            </a:r>
            <a:r>
              <a:rPr lang="en-US" dirty="0">
                <a:sym typeface="+mn-ea"/>
              </a:rPr>
              <a:t>:</a:t>
            </a:r>
            <a:endParaRPr lang="en-US" dirty="0"/>
          </a:p>
          <a:p>
            <a:pPr marL="742950" lvl="1" indent="-285750">
              <a:buFont typeface="+mj-lt"/>
              <a:buAutoNum type="arabicPeriod"/>
            </a:pPr>
            <a:r>
              <a:rPr lang="en-US" dirty="0">
                <a:sym typeface="+mn-ea"/>
              </a:rPr>
              <a:t>Clean and prepare the collected data for analysis.</a:t>
            </a:r>
            <a:endParaRPr lang="en-US" dirty="0"/>
          </a:p>
          <a:p>
            <a:pPr>
              <a:buFont typeface="+mj-lt"/>
              <a:buAutoNum type="arabicPeriod"/>
            </a:pPr>
            <a:r>
              <a:rPr lang="en-US" b="1" dirty="0">
                <a:sym typeface="+mn-ea"/>
              </a:rPr>
              <a:t>Intent Prediction Model Development (Weeks 5-6)</a:t>
            </a:r>
            <a:r>
              <a:rPr lang="en-US" dirty="0">
                <a:sym typeface="+mn-ea"/>
              </a:rPr>
              <a:t>:</a:t>
            </a:r>
            <a:endParaRPr lang="en-US" dirty="0"/>
          </a:p>
          <a:p>
            <a:pPr marL="742950" lvl="1" indent="-285750">
              <a:buFont typeface="+mj-lt"/>
              <a:buAutoNum type="arabicPeriod"/>
            </a:pPr>
            <a:r>
              <a:rPr lang="en-US" dirty="0">
                <a:sym typeface="+mn-ea"/>
              </a:rPr>
              <a:t>Develop and train the machine learning model to predict user intent.</a:t>
            </a:r>
            <a:endParaRPr lang="en-US" dirty="0"/>
          </a:p>
          <a:p>
            <a:pPr>
              <a:buFont typeface="+mj-lt"/>
              <a:buAutoNum type="arabicPeriod"/>
            </a:pPr>
            <a:r>
              <a:rPr lang="en-US" b="1" dirty="0">
                <a:sym typeface="+mn-ea"/>
              </a:rPr>
              <a:t>Notification Management System Design (Weeks 6-7)</a:t>
            </a:r>
            <a:r>
              <a:rPr lang="en-US" dirty="0">
                <a:sym typeface="+mn-ea"/>
              </a:rPr>
              <a:t>:</a:t>
            </a:r>
            <a:endParaRPr lang="en-US" dirty="0"/>
          </a:p>
          <a:p>
            <a:pPr marL="742950" lvl="1" indent="-285750">
              <a:buFont typeface="+mj-lt"/>
              <a:buAutoNum type="arabicPeriod"/>
            </a:pPr>
            <a:r>
              <a:rPr lang="en-US" dirty="0">
                <a:sym typeface="+mn-ea"/>
              </a:rPr>
              <a:t>Design the system to manage when and how notifications are sent based on intent detection.</a:t>
            </a:r>
            <a:endParaRPr lang="en-US" dirty="0"/>
          </a:p>
          <a:p>
            <a:pPr>
              <a:buFont typeface="+mj-lt"/>
              <a:buAutoNum type="arabicPeriod"/>
            </a:pPr>
            <a:r>
              <a:rPr lang="en-US" b="1" dirty="0">
                <a:sym typeface="+mn-ea"/>
              </a:rPr>
              <a:t>Real-Time Monitoring &amp; A/B Testing (Weeks 7-8)</a:t>
            </a:r>
            <a:r>
              <a:rPr lang="en-US" dirty="0">
                <a:sym typeface="+mn-ea"/>
              </a:rPr>
              <a:t>:</a:t>
            </a:r>
            <a:endParaRPr lang="en-US" dirty="0"/>
          </a:p>
          <a:p>
            <a:pPr marL="742950" lvl="1" indent="-285750">
              <a:buFont typeface="+mj-lt"/>
              <a:buAutoNum type="arabicPeriod"/>
            </a:pPr>
            <a:r>
              <a:rPr lang="en-US" dirty="0">
                <a:sym typeface="+mn-ea"/>
              </a:rPr>
              <a:t>Implement monitoring tools and conduct A/B testing to refine notification strategies.</a:t>
            </a:r>
            <a:endParaRPr lang="en-US" dirty="0"/>
          </a:p>
          <a:p>
            <a:pPr>
              <a:buFont typeface="+mj-lt"/>
              <a:buAutoNum type="arabicPeriod"/>
            </a:pPr>
            <a:r>
              <a:rPr lang="en-US" b="1" dirty="0">
                <a:sym typeface="+mn-ea"/>
              </a:rPr>
              <a:t>User Feedback Integration (Weeks 9-10)</a:t>
            </a:r>
            <a:r>
              <a:rPr lang="en-US" dirty="0">
                <a:sym typeface="+mn-ea"/>
              </a:rPr>
              <a:t>:</a:t>
            </a:r>
            <a:endParaRPr lang="en-US" dirty="0"/>
          </a:p>
          <a:p>
            <a:pPr marL="742950" lvl="1" indent="-285750">
              <a:buFont typeface="+mj-lt"/>
              <a:buAutoNum type="arabicPeriod"/>
            </a:pPr>
            <a:r>
              <a:rPr lang="en-US" dirty="0">
                <a:sym typeface="+mn-ea"/>
              </a:rPr>
              <a:t>Incorporate user feedback mechanisms to improve notification relevance.</a:t>
            </a:r>
            <a:endParaRPr lang="en-US" dirty="0"/>
          </a:p>
          <a:p>
            <a:pPr>
              <a:buFont typeface="+mj-lt"/>
              <a:buAutoNum type="arabicPeriod"/>
            </a:pPr>
            <a:r>
              <a:rPr lang="en-US" b="1" dirty="0">
                <a:sym typeface="+mn-ea"/>
              </a:rPr>
              <a:t>Final Testing &amp; Deployment (Week 10)</a:t>
            </a:r>
            <a:r>
              <a:rPr lang="en-US" dirty="0">
                <a:sym typeface="+mn-ea"/>
              </a:rPr>
              <a:t>:</a:t>
            </a:r>
            <a:endParaRPr lang="en-US" dirty="0"/>
          </a:p>
          <a:p>
            <a:pPr marL="742950" lvl="1" indent="-285750">
              <a:buFont typeface="+mj-lt"/>
              <a:buAutoNum type="arabicPeriod"/>
            </a:pPr>
            <a:r>
              <a:rPr lang="en-US" dirty="0">
                <a:sym typeface="+mn-ea"/>
              </a:rPr>
              <a:t>Test the entire system and prepare for deployment to users.</a:t>
            </a:r>
            <a:endParaRPr lang="en-US" dirty="0"/>
          </a:p>
          <a:p>
            <a:pPr marL="0" indent="0">
              <a:buNone/>
            </a:pPr>
            <a:endParaRPr lang="en-GB" dirty="0"/>
          </a:p>
          <a:p>
            <a:endParaRPr lang="en-US"/>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GHANT CHART</a:t>
            </a:r>
            <a:endParaRPr lang="en-US" dirty="0"/>
          </a:p>
        </p:txBody>
      </p:sp>
      <p:pic>
        <p:nvPicPr>
          <p:cNvPr id="9" name="Content Placeholder 8"/>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228712" y="1120140"/>
            <a:ext cx="7734576" cy="4953000"/>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Expected Outcomes</a:t>
            </a:r>
            <a:endParaRPr lang="en-GB" dirty="0"/>
          </a:p>
        </p:txBody>
      </p:sp>
      <p:sp>
        <p:nvSpPr>
          <p:cNvPr id="3" name="Content Placeholder 2"/>
          <p:cNvSpPr>
            <a:spLocks noGrp="1"/>
          </p:cNvSpPr>
          <p:nvPr>
            <p:ph idx="1"/>
          </p:nvPr>
        </p:nvSpPr>
        <p:spPr/>
        <p:txBody>
          <a:bodyPr>
            <a:normAutofit/>
          </a:bodyPr>
          <a:lstStyle/>
          <a:p>
            <a:pPr marL="0" indent="0" algn="just">
              <a:buNone/>
            </a:pPr>
            <a:r>
              <a:rPr lang="en-US" sz="1500" dirty="0">
                <a:latin typeface="Times New Roman" panose="02020603050405020304" pitchFamily="18" charset="0"/>
                <a:cs typeface="Times New Roman" panose="02020603050405020304" pitchFamily="18" charset="0"/>
              </a:rPr>
              <a:t>The project is expected to significantly enhance disaster management by integrating diverse data sources and leveraging advanced predictive algorithms. </a:t>
            </a: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This will enable proactive decision-making, allowing authorities to take preemptive measures such as evacuations or resource mobilization before disasters strike. </a:t>
            </a: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The real-time alert system will empower communities with critical information, reducing the loss of life and property. Additionally, the post-disaster modeling will provide valuable insights into the progression of a disaster, helping in efficient resource allocation and timely response to affected areas. By simulating disaster spread, the system will support recovery efforts, optimize rescue operations, and ensure a more structured and informed approach to disaster relief. </a:t>
            </a: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This project also aims to provide a scalable and flexible framework that can be adapted to different types of disasters and geographic regions, enhancing global disaster preparedness and response strategies. </a:t>
            </a: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 The expected outcomes of this project include the development of an accurate disaster prediction system that utilizes machine learning to predict natural disasters such as floods, earthquakes, and wildfires by processing satellite imagery, sensor data, and human-generated inputs. </a:t>
            </a:r>
            <a:endParaRPr lang="en-US" sz="1500" dirty="0">
              <a:latin typeface="Times New Roman" panose="02020603050405020304" pitchFamily="18" charset="0"/>
              <a:cs typeface="Times New Roman" panose="02020603050405020304" pitchFamily="18" charset="0"/>
            </a:endParaRPr>
          </a:p>
          <a:p>
            <a:pPr marL="0" indent="0" algn="just">
              <a:buNone/>
            </a:pPr>
            <a:r>
              <a:rPr lang="en-US" sz="1500" dirty="0">
                <a:latin typeface="Times New Roman" panose="02020603050405020304" pitchFamily="18" charset="0"/>
                <a:cs typeface="Times New Roman" panose="02020603050405020304" pitchFamily="18" charset="0"/>
              </a:rPr>
              <a:t>This system will provide early warnings, helping authorities and communities mitigate the effects of disasters. Additionally, the project will result in a real-time monitoring dashboard that continuously tracks disaster risks, offering dynamic updates and issuing timely alerts to improve preparedness. The system will also model post-disaster spread dynamics, allowing for better resource allocation and management of disaster recovery efforts.</a:t>
            </a:r>
            <a:endParaRPr lang="en-US" sz="1500" dirty="0">
              <a:latin typeface="Times New Roman" panose="02020603050405020304" pitchFamily="18" charset="0"/>
              <a:cs typeface="Times New Roman" panose="02020603050405020304" pitchFamily="18" charset="0"/>
            </a:endParaRPr>
          </a:p>
          <a:p>
            <a:pPr marL="0" indent="0" algn="just">
              <a:buNone/>
            </a:pPr>
            <a:endParaRPr lang="en-US" sz="15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552495"/>
            <a:ext cx="10668000" cy="487362"/>
          </a:xfrm>
        </p:spPr>
        <p:txBody>
          <a:bodyPr/>
          <a:lstStyle/>
          <a:p>
            <a:r>
              <a:rPr lang="en-US" dirty="0"/>
              <a:t>Results</a:t>
            </a:r>
            <a:br>
              <a:rPr lang="en-US" dirty="0"/>
            </a:br>
            <a:endParaRPr lang="en-US" dirty="0"/>
          </a:p>
        </p:txBody>
      </p:sp>
      <p:pic>
        <p:nvPicPr>
          <p:cNvPr id="91" name="Image 91"/>
          <p:cNvPicPr/>
          <p:nvPr/>
        </p:nvPicPr>
        <p:blipFill>
          <a:blip r:embed="rId1" cstate="print"/>
          <a:stretch>
            <a:fillRect/>
          </a:stretch>
        </p:blipFill>
        <p:spPr>
          <a:xfrm>
            <a:off x="468630" y="1285875"/>
            <a:ext cx="3707130" cy="2007235"/>
          </a:xfrm>
          <a:prstGeom prst="rect">
            <a:avLst/>
          </a:prstGeom>
        </p:spPr>
      </p:pic>
      <p:pic>
        <p:nvPicPr>
          <p:cNvPr id="92" name="Image 92"/>
          <p:cNvPicPr/>
          <p:nvPr/>
        </p:nvPicPr>
        <p:blipFill>
          <a:blip r:embed="rId2" cstate="print"/>
          <a:stretch>
            <a:fillRect/>
          </a:stretch>
        </p:blipFill>
        <p:spPr>
          <a:xfrm>
            <a:off x="468630" y="3538855"/>
            <a:ext cx="3707130" cy="1941195"/>
          </a:xfrm>
          <a:prstGeom prst="rect">
            <a:avLst/>
          </a:prstGeom>
        </p:spPr>
      </p:pic>
      <p:pic>
        <p:nvPicPr>
          <p:cNvPr id="94" name="Image 94"/>
          <p:cNvPicPr/>
          <p:nvPr/>
        </p:nvPicPr>
        <p:blipFill>
          <a:blip r:embed="rId3" cstate="print"/>
          <a:stretch>
            <a:fillRect/>
          </a:stretch>
        </p:blipFill>
        <p:spPr>
          <a:xfrm>
            <a:off x="4382770" y="1285875"/>
            <a:ext cx="3426460" cy="2382520"/>
          </a:xfrm>
          <a:prstGeom prst="rect">
            <a:avLst/>
          </a:prstGeom>
        </p:spPr>
      </p:pic>
      <p:pic>
        <p:nvPicPr>
          <p:cNvPr id="93" name="Image 93"/>
          <p:cNvPicPr/>
          <p:nvPr/>
        </p:nvPicPr>
        <p:blipFill>
          <a:blip r:embed="rId4" cstate="print"/>
          <a:stretch>
            <a:fillRect/>
          </a:stretch>
        </p:blipFill>
        <p:spPr>
          <a:xfrm>
            <a:off x="4382770" y="3914140"/>
            <a:ext cx="5648960" cy="1797050"/>
          </a:xfrm>
          <a:prstGeom prst="rect">
            <a:avLst/>
          </a:prstGeom>
        </p:spPr>
      </p:pic>
      <p:pic>
        <p:nvPicPr>
          <p:cNvPr id="89" name="Image 89"/>
          <p:cNvPicPr/>
          <p:nvPr/>
        </p:nvPicPr>
        <p:blipFill>
          <a:blip r:embed="rId5" cstate="print"/>
          <a:stretch>
            <a:fillRect/>
          </a:stretch>
        </p:blipFill>
        <p:spPr>
          <a:xfrm>
            <a:off x="8016240" y="1285875"/>
            <a:ext cx="3353435" cy="217043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endParaRPr lang="en-GB" dirty="0"/>
          </a:p>
        </p:txBody>
      </p:sp>
      <p:sp>
        <p:nvSpPr>
          <p:cNvPr id="3" name="Content Placeholder 2"/>
          <p:cNvSpPr>
            <a:spLocks noGrp="1"/>
          </p:cNvSpPr>
          <p:nvPr>
            <p:ph idx="1"/>
          </p:nvPr>
        </p:nvSpPr>
        <p:spPr/>
        <p:txBody>
          <a:bodyPr>
            <a:normAutofit fontScale="92500"/>
          </a:bodyPr>
          <a:lstStyle/>
          <a:p>
            <a:pPr marL="0" indent="0">
              <a:buNone/>
            </a:pPr>
            <a:r>
              <a:rPr lang="en-US" sz="2200" dirty="0">
                <a:latin typeface="Times New Roman" panose="02020603050405020304" pitchFamily="18" charset="0"/>
                <a:cs typeface="Times New Roman" panose="02020603050405020304" pitchFamily="18" charset="0"/>
              </a:rPr>
              <a:t>In conclusion, this project aims to develop an innovative disaster prediction and post-disaster management system that leverages satellite data, sensor inputs, and human-generated information to accurately forecast large-scale natural disasters. By integrating machine learning and geospatial analysis, the system will provide real-time monitoring, timely alerts, and comprehensive models of disaster spread dynamics, aiding in effective disaster preparedness and management. The solution is designed to support authorities in making data-driven decisions, optimize resource allocation, and minimize the social, environmental, and economic impacts of disasters. With its scalable and adaptable framework, this project holds the potential to improve global disaster response strategies and reduce the devastation caused by natural disasters in various regions.</a:t>
            </a: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Accurate Disaster Prediction: </a:t>
            </a:r>
            <a:r>
              <a:rPr lang="en-US" sz="2200" dirty="0">
                <a:latin typeface="Times New Roman" panose="02020603050405020304" pitchFamily="18" charset="0"/>
                <a:cs typeface="Times New Roman" panose="02020603050405020304" pitchFamily="18" charset="0"/>
              </a:rPr>
              <a:t>The system will use machine learning to process satellite and sensor data, enabling early detection of natural disasters like floods, earthquakes, and wildfires.</a:t>
            </a: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Post-Disaster Spread Modeling</a:t>
            </a:r>
            <a:r>
              <a:rPr lang="en-US" sz="2200" dirty="0">
                <a:latin typeface="Times New Roman" panose="02020603050405020304" pitchFamily="18" charset="0"/>
                <a:cs typeface="Times New Roman" panose="02020603050405020304" pitchFamily="18" charset="0"/>
              </a:rPr>
              <a:t>: The project will model how disasters spread, helping authorities manage resources, plan evacuations, and optimize recovery efforts.</a:t>
            </a:r>
            <a:endParaRPr lang="en-US" sz="2200" dirty="0">
              <a:latin typeface="Times New Roman" panose="02020603050405020304" pitchFamily="18" charset="0"/>
              <a:cs typeface="Times New Roman" panose="02020603050405020304" pitchFamily="18" charset="0"/>
            </a:endParaRPr>
          </a:p>
          <a:p>
            <a:pPr marL="0" indent="0">
              <a:buNone/>
            </a:pPr>
            <a:r>
              <a:rPr lang="en-US" sz="2200" b="1" dirty="0">
                <a:latin typeface="Times New Roman" panose="02020603050405020304" pitchFamily="18" charset="0"/>
                <a:cs typeface="Times New Roman" panose="02020603050405020304" pitchFamily="18" charset="0"/>
              </a:rPr>
              <a:t>Scalable and Adaptable Framework</a:t>
            </a:r>
            <a:r>
              <a:rPr lang="en-US" sz="2200" dirty="0">
                <a:latin typeface="Times New Roman" panose="02020603050405020304" pitchFamily="18" charset="0"/>
                <a:cs typeface="Times New Roman" panose="02020603050405020304" pitchFamily="18" charset="0"/>
              </a:rPr>
              <a:t>: The solution will be scalable, adaptable to different disaster types and regions, enhancing global disaster response and management.</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Publications</a:t>
            </a:r>
            <a:endParaRPr lang="en-US"/>
          </a:p>
        </p:txBody>
      </p:sp>
      <p:pic>
        <p:nvPicPr>
          <p:cNvPr id="32" name="Picture 32" descr="Screenshot 2025-04-28 024154"/>
          <p:cNvPicPr>
            <a:picLocks noChangeAspect="1"/>
          </p:cNvPicPr>
          <p:nvPr>
            <p:ph idx="1"/>
          </p:nvPr>
        </p:nvPicPr>
        <p:blipFill>
          <a:blip r:embed="rId1"/>
          <a:stretch>
            <a:fillRect/>
          </a:stretch>
        </p:blipFill>
        <p:spPr>
          <a:xfrm>
            <a:off x="3566795" y="1143000"/>
            <a:ext cx="5158740" cy="4953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References</a:t>
            </a:r>
            <a:endParaRPr lang="en-GB" dirty="0"/>
          </a:p>
        </p:txBody>
      </p:sp>
      <p:sp>
        <p:nvSpPr>
          <p:cNvPr id="3" name="Content Placeholder 2"/>
          <p:cNvSpPr>
            <a:spLocks noGrp="1"/>
          </p:cNvSpPr>
          <p:nvPr>
            <p:ph idx="1"/>
          </p:nvPr>
        </p:nvSpPr>
        <p:spPr/>
        <p:txBody>
          <a:bodyPr>
            <a:noAutofit/>
          </a:bodyPr>
          <a:lstStyle/>
          <a:p>
            <a:pPr marL="0" indent="0" algn="just">
              <a:buNone/>
            </a:pPr>
            <a:endParaRPr lang="en-US" altLang="en-US" sz="1200" b="1" dirty="0">
              <a:latin typeface="Times New Roman" panose="02020603050405020304" pitchFamily="18" charset="0"/>
              <a:cs typeface="Times New Roman" panose="02020603050405020304" pitchFamily="18" charset="0"/>
            </a:endParaRPr>
          </a:p>
          <a:p>
            <a:pPr marL="0" indent="0" algn="just">
              <a:buNone/>
            </a:pPr>
            <a:r>
              <a:rPr lang="en-US" altLang="en-US" sz="1200" b="1" dirty="0">
                <a:latin typeface="Times New Roman" panose="02020603050405020304" pitchFamily="18" charset="0"/>
                <a:cs typeface="Times New Roman" panose="02020603050405020304" pitchFamily="18" charset="0"/>
              </a:rPr>
              <a:t>Vinay Chamola , Vikas Hassija , Sakshi Gupta , Adit Goyal , Mohsen Guizani ,  and Biplab Sikdar ,Disaster and Pandemic Management Using Machine Learning: INTERNET OF  THINGS JOURNAL, VOL. 8, NO. 21, NOVEMBER 1, 2021</a:t>
            </a:r>
            <a:endParaRPr lang="en-US" altLang="en-US" sz="1200" b="1" dirty="0">
              <a:latin typeface="Times New Roman" panose="02020603050405020304" pitchFamily="18" charset="0"/>
              <a:cs typeface="Times New Roman" panose="02020603050405020304" pitchFamily="18" charset="0"/>
            </a:endParaRPr>
          </a:p>
          <a:p>
            <a:pPr marL="0" indent="0" algn="just">
              <a:buNone/>
            </a:pPr>
            <a:endParaRPr lang="en-US" altLang="en-US" sz="1200" b="1" dirty="0">
              <a:latin typeface="Times New Roman" panose="02020603050405020304" pitchFamily="18" charset="0"/>
              <a:cs typeface="Times New Roman" panose="02020603050405020304" pitchFamily="18" charset="0"/>
            </a:endParaRPr>
          </a:p>
          <a:p>
            <a:pPr marL="0" indent="0" algn="just">
              <a:buNone/>
            </a:pPr>
            <a:r>
              <a:rPr lang="en-US" altLang="en-US" sz="1200" b="1" dirty="0">
                <a:latin typeface="Times New Roman" panose="02020603050405020304" pitchFamily="18" charset="0"/>
                <a:cs typeface="Times New Roman" panose="02020603050405020304" pitchFamily="18" charset="0"/>
              </a:rPr>
              <a:t>Jain H, Dhupper R, Shrivastava A, Kumar D and Kumari M , Leveraging machine learning algorithms for improved disaster preparedness and response through accurate eather pattern and natural disaster prediction. Front. Environ. Sci. 11:1194918. doi: 0.3389/fenvs.2023.1194918(2023)</a:t>
            </a:r>
            <a:endParaRPr lang="en-US" altLang="en-US" sz="1200" b="1" dirty="0">
              <a:latin typeface="Times New Roman" panose="02020603050405020304" pitchFamily="18" charset="0"/>
              <a:cs typeface="Times New Roman" panose="02020603050405020304" pitchFamily="18" charset="0"/>
            </a:endParaRPr>
          </a:p>
          <a:p>
            <a:pPr marL="0" indent="0" algn="just">
              <a:buNone/>
            </a:pPr>
            <a:endParaRPr lang="en-US" altLang="en-US" sz="1200" b="1" dirty="0">
              <a:latin typeface="Times New Roman" panose="02020603050405020304" pitchFamily="18" charset="0"/>
              <a:cs typeface="Times New Roman" panose="02020603050405020304" pitchFamily="18" charset="0"/>
            </a:endParaRPr>
          </a:p>
          <a:p>
            <a:pPr marL="0" indent="0" algn="just">
              <a:buNone/>
            </a:pPr>
            <a:r>
              <a:rPr lang="en-US" altLang="en-US" sz="1200" b="1" dirty="0">
                <a:latin typeface="Times New Roman" panose="02020603050405020304" pitchFamily="18" charset="0"/>
                <a:cs typeface="Times New Roman" panose="02020603050405020304" pitchFamily="18" charset="0"/>
              </a:rPr>
              <a:t>A Review on Disaster Prediction Using Machine Learning Alaa Taiseer Farghaly1* , Ngahzaifa Binti Ab Ghani2 , Abbas Saliimi Lokman ISSN: 2073-607X, 2076-0930 , 16(S1)2024</a:t>
            </a:r>
            <a:endParaRPr lang="en-US" altLang="en-US" sz="1200" b="1" dirty="0">
              <a:latin typeface="Times New Roman" panose="02020603050405020304" pitchFamily="18" charset="0"/>
              <a:cs typeface="Times New Roman" panose="02020603050405020304" pitchFamily="18" charset="0"/>
            </a:endParaRPr>
          </a:p>
          <a:p>
            <a:pPr marL="0" indent="0" algn="just">
              <a:buNone/>
            </a:pPr>
            <a:endParaRPr lang="en-US" altLang="en-US" sz="1200" b="1" dirty="0">
              <a:latin typeface="Times New Roman" panose="02020603050405020304" pitchFamily="18" charset="0"/>
              <a:cs typeface="Times New Roman" panose="02020603050405020304" pitchFamily="18" charset="0"/>
            </a:endParaRPr>
          </a:p>
          <a:p>
            <a:pPr marL="0" indent="0" algn="just">
              <a:buNone/>
            </a:pPr>
            <a:r>
              <a:rPr lang="en-US" altLang="en-US" sz="1200" b="1" dirty="0">
                <a:latin typeface="Times New Roman" panose="02020603050405020304" pitchFamily="18" charset="0"/>
                <a:cs typeface="Times New Roman" panose="02020603050405020304" pitchFamily="18" charset="0"/>
              </a:rPr>
              <a:t>Labis, Paul Michael. Machine Learning for Disaster Risk Reduction - Review and Research Directions. (2024). </a:t>
            </a:r>
            <a:endParaRPr lang="en-US" altLang="en-US" sz="1200" b="1" dirty="0">
              <a:latin typeface="Times New Roman" panose="02020603050405020304" pitchFamily="18" charset="0"/>
              <a:cs typeface="Times New Roman" panose="02020603050405020304" pitchFamily="18" charset="0"/>
            </a:endParaRPr>
          </a:p>
          <a:p>
            <a:pPr marL="0" indent="0" algn="just">
              <a:buNone/>
            </a:pPr>
            <a:endParaRPr lang="en-US" altLang="en-US" sz="1200" b="1" dirty="0">
              <a:latin typeface="Times New Roman" panose="02020603050405020304" pitchFamily="18" charset="0"/>
              <a:cs typeface="Times New Roman" panose="02020603050405020304" pitchFamily="18" charset="0"/>
            </a:endParaRPr>
          </a:p>
          <a:p>
            <a:pPr marL="0" indent="0" algn="just">
              <a:buNone/>
            </a:pPr>
            <a:r>
              <a:rPr lang="en-US" altLang="en-US" sz="1200" b="1" dirty="0">
                <a:latin typeface="Times New Roman" panose="02020603050405020304" pitchFamily="18" charset="0"/>
                <a:cs typeface="Times New Roman" panose="02020603050405020304" pitchFamily="18" charset="0"/>
              </a:rPr>
              <a:t>Fakhrul, Md &amp; Sumon, Md Fakhrul Islam &amp; Khan, Azam &amp; Rahman, Arifur &amp; Chikwarti, Dileep Kumar. (2023). Machine Learning for Real-Time Disaster Response and Recovery in the U.S. 14. </a:t>
            </a:r>
            <a:endParaRPr lang="en-US" altLang="en-US" sz="1200" b="1" dirty="0">
              <a:latin typeface="Times New Roman" panose="02020603050405020304" pitchFamily="18" charset="0"/>
              <a:cs typeface="Times New Roman" panose="02020603050405020304" pitchFamily="18" charset="0"/>
            </a:endParaRPr>
          </a:p>
          <a:p>
            <a:pPr marL="0" indent="0" algn="just">
              <a:buNone/>
            </a:pPr>
            <a:endParaRPr lang="en-US" altLang="en-US" sz="1200" b="1" dirty="0">
              <a:latin typeface="Times New Roman" panose="02020603050405020304" pitchFamily="18" charset="0"/>
              <a:cs typeface="Times New Roman" panose="02020603050405020304" pitchFamily="18" charset="0"/>
            </a:endParaRPr>
          </a:p>
          <a:p>
            <a:pPr marL="0" indent="0" algn="just">
              <a:buNone/>
            </a:pPr>
            <a:r>
              <a:rPr lang="en-US" altLang="en-US" sz="1200" b="1" dirty="0">
                <a:latin typeface="Times New Roman" panose="02020603050405020304" pitchFamily="18" charset="0"/>
                <a:cs typeface="Times New Roman" panose="02020603050405020304" pitchFamily="18" charset="0"/>
              </a:rPr>
              <a:t>Qingsong Xu1 , Yilei Shi2 , Xiao Xiang Zhu  ‘Role of Internet of Things in disaster management’, Proceedings of 2017 International Conference on Innovations in Information, Embedded and Communication Systems, ICIIECS 2017, 2018- Janua(September), pp. 1–4. doi: 10.1109/ICIIECS.2017.8275928.(2023)</a:t>
            </a:r>
            <a:endParaRPr lang="en-US" altLang="en-US" sz="1200" b="1" dirty="0">
              <a:latin typeface="Times New Roman" panose="02020603050405020304" pitchFamily="18" charset="0"/>
              <a:cs typeface="Times New Roman" panose="02020603050405020304" pitchFamily="18" charset="0"/>
            </a:endParaRPr>
          </a:p>
          <a:p>
            <a:pPr marL="0" indent="0" algn="just">
              <a:buNone/>
            </a:pPr>
            <a:endParaRPr lang="en-US" altLang="en-US" sz="1200" b="1" dirty="0">
              <a:latin typeface="Times New Roman" panose="02020603050405020304" pitchFamily="18" charset="0"/>
              <a:cs typeface="Times New Roman" panose="02020603050405020304" pitchFamily="18" charset="0"/>
            </a:endParaRPr>
          </a:p>
          <a:p>
            <a:pPr marL="0" indent="0" algn="just">
              <a:buNone/>
            </a:pPr>
            <a:r>
              <a:rPr lang="en-US" altLang="en-US" sz="1200" b="1" dirty="0">
                <a:latin typeface="Times New Roman" panose="02020603050405020304" pitchFamily="18" charset="0"/>
                <a:cs typeface="Times New Roman" panose="02020603050405020304" pitchFamily="18" charset="0"/>
              </a:rPr>
              <a:t>Leveraging AI for Natural Disaster Management : Takeaways From The Moroccan Earthquake 2023 </a:t>
            </a:r>
            <a:endParaRPr lang="en-US" altLang="en-US" sz="1200" b="1" dirty="0">
              <a:latin typeface="Times New Roman" panose="02020603050405020304" pitchFamily="18" charset="0"/>
              <a:cs typeface="Times New Roman" panose="02020603050405020304" pitchFamily="18" charset="0"/>
            </a:endParaRPr>
          </a:p>
          <a:p>
            <a:pPr marL="0" indent="0" algn="just">
              <a:buNone/>
            </a:pPr>
            <a:endParaRPr lang="en-US" altLang="en-US" sz="1200" b="1" dirty="0">
              <a:latin typeface="Times New Roman" panose="02020603050405020304" pitchFamily="18" charset="0"/>
              <a:cs typeface="Times New Roman" panose="02020603050405020304" pitchFamily="18" charset="0"/>
            </a:endParaRPr>
          </a:p>
          <a:p>
            <a:pPr marL="0" indent="0" algn="just">
              <a:buNone/>
            </a:pPr>
            <a:r>
              <a:rPr lang="en-US" altLang="en-US" sz="1200" b="1" dirty="0">
                <a:latin typeface="Times New Roman" panose="02020603050405020304" pitchFamily="18" charset="0"/>
                <a:cs typeface="Times New Roman" panose="02020603050405020304" pitchFamily="18" charset="0"/>
              </a:rPr>
              <a:t>Linardos, V.; Drakaki, M.; Tzionas, P.; Karnavas, Y.L. Machine Learning in Disaster anagement: Recent Developments in Methods and Applications. Mach. Learn. Knowl. Extr. 2022, 4, 446–473. https://doi.org/10.3390/ make4020020</a:t>
            </a:r>
            <a:endParaRPr lang="en-US" altLang="en-US" sz="1200" b="1"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1000"/>
                                        <p:tgtEl>
                                          <p:spTgt spid="3">
                                            <p:txEl>
                                              <p:pRg st="7" end="7"/>
                                            </p:txEl>
                                          </p:spTgt>
                                        </p:tgtEl>
                                      </p:cBhvr>
                                    </p:animEffect>
                                    <p:anim calcmode="lin" valueType="num">
                                      <p:cBhvr>
                                        <p:cTn id="2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animEffect transition="in" filter="fade">
                                      <p:cBhvr>
                                        <p:cTn id="35" dur="1000"/>
                                        <p:tgtEl>
                                          <p:spTgt spid="3">
                                            <p:txEl>
                                              <p:pRg st="9" end="9"/>
                                            </p:txEl>
                                          </p:spTgt>
                                        </p:tgtEl>
                                      </p:cBhvr>
                                    </p:animEffect>
                                    <p:anim calcmode="lin" valueType="num">
                                      <p:cBhvr>
                                        <p:cTn id="36"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1000"/>
                                        <p:tgtEl>
                                          <p:spTgt spid="3">
                                            <p:txEl>
                                              <p:pRg st="11" end="11"/>
                                            </p:txEl>
                                          </p:spTgt>
                                        </p:tgtEl>
                                      </p:cBhvr>
                                    </p:animEffect>
                                    <p:anim calcmode="lin" valueType="num">
                                      <p:cBhvr>
                                        <p:cTn id="4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animEffect transition="in" filter="fade">
                                      <p:cBhvr>
                                        <p:cTn id="49" dur="1000"/>
                                        <p:tgtEl>
                                          <p:spTgt spid="3">
                                            <p:txEl>
                                              <p:pRg st="13" end="13"/>
                                            </p:txEl>
                                          </p:spTgt>
                                        </p:tgtEl>
                                      </p:cBhvr>
                                    </p:animEffect>
                                    <p:anim calcmode="lin" valueType="num">
                                      <p:cBhvr>
                                        <p:cTn id="50"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3">
                                            <p:txEl>
                                              <p:pRg st="15" end="15"/>
                                            </p:txEl>
                                          </p:spTgt>
                                        </p:tgtEl>
                                        <p:attrNameLst>
                                          <p:attrName>style.visibility</p:attrName>
                                        </p:attrNameLst>
                                      </p:cBhvr>
                                      <p:to>
                                        <p:strVal val="visible"/>
                                      </p:to>
                                    </p:set>
                                    <p:animEffect transition="in" filter="fade">
                                      <p:cBhvr>
                                        <p:cTn id="56" dur="1000"/>
                                        <p:tgtEl>
                                          <p:spTgt spid="3">
                                            <p:txEl>
                                              <p:pRg st="15" end="15"/>
                                            </p:txEl>
                                          </p:spTgt>
                                        </p:tgtEl>
                                      </p:cBhvr>
                                    </p:animEffect>
                                    <p:anim calcmode="lin" valueType="num">
                                      <p:cBhvr>
                                        <p:cTn id="57" dur="1000" fill="hold"/>
                                        <p:tgtEl>
                                          <p:spTgt spid="3">
                                            <p:txEl>
                                              <p:pRg st="15" end="15"/>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endParaRPr lang="en-GB" sz="4400" dirty="0"/>
          </a:p>
          <a:p>
            <a:pPr marL="0" indent="0" algn="ctr">
              <a:buNone/>
            </a:pPr>
            <a:endParaRPr lang="en-GB" sz="4400" dirty="0"/>
          </a:p>
          <a:p>
            <a:pPr marL="0" indent="0" algn="ctr">
              <a:buNone/>
            </a:pPr>
            <a:endParaRPr lang="en-GB" sz="60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70151" y="1456529"/>
            <a:ext cx="7988299" cy="394494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ioinformatic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Bioinformatics</Template>
  <TotalTime>0</TotalTime>
  <Words>18590</Words>
  <Application>WPS Presentation</Application>
  <PresentationFormat>Widescreen</PresentationFormat>
  <Paragraphs>456</Paragraphs>
  <Slides>21</Slides>
  <Notes>4</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21</vt:i4>
      </vt:variant>
    </vt:vector>
  </HeadingPairs>
  <TitlesOfParts>
    <vt:vector size="34" baseType="lpstr">
      <vt:lpstr>Arial</vt:lpstr>
      <vt:lpstr>SimSun</vt:lpstr>
      <vt:lpstr>Wingdings</vt:lpstr>
      <vt:lpstr>Verdana</vt:lpstr>
      <vt:lpstr>Verdana</vt:lpstr>
      <vt:lpstr>Cambria</vt:lpstr>
      <vt:lpstr>Arial</vt:lpstr>
      <vt:lpstr>Times New Roman</vt:lpstr>
      <vt:lpstr>Calibri</vt:lpstr>
      <vt:lpstr>Bookman Old Style</vt:lpstr>
      <vt:lpstr>Microsoft YaHei</vt:lpstr>
      <vt:lpstr>Arial Unicode MS</vt:lpstr>
      <vt:lpstr>Bioinformatics</vt:lpstr>
      <vt:lpstr> DISASTER DETECTION</vt:lpstr>
      <vt:lpstr>Introduction</vt:lpstr>
      <vt:lpstr>Literature Survey</vt:lpstr>
      <vt:lpstr>Literature Survey</vt:lpstr>
      <vt:lpstr>Literature Survey</vt:lpstr>
      <vt:lpstr>Objectives</vt:lpstr>
      <vt:lpstr>Proposed Method</vt:lpstr>
      <vt:lpstr>Architecture Diagram</vt:lpstr>
      <vt:lpstr>Modules</vt:lpstr>
      <vt:lpstr>Modules</vt:lpstr>
      <vt:lpstr>Hardware and Software Details </vt:lpstr>
      <vt:lpstr>Methodology</vt:lpstr>
      <vt:lpstr>Methodology</vt:lpstr>
      <vt:lpstr>Timeline of Project</vt:lpstr>
      <vt:lpstr>GHANT CHART</vt:lpstr>
      <vt:lpstr>Expected Outcomes</vt:lpstr>
      <vt:lpstr>Results </vt:lpstr>
      <vt:lpstr>Conclusion</vt:lpstr>
      <vt:lpstr>PowerPoint 演示文稿</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Sanjeev P Kaulgud-Asst. Prof-CSE</dc:creator>
  <cp:lastModifiedBy>lenovo</cp:lastModifiedBy>
  <cp:revision>65</cp:revision>
  <dcterms:created xsi:type="dcterms:W3CDTF">2023-03-16T03:26:00Z</dcterms:created>
  <dcterms:modified xsi:type="dcterms:W3CDTF">2025-05-16T08:24:51Z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90C1288D8FF345D88E3DFC0E3916F262_13</vt:lpwstr>
  </property>
  <property fmtid="{D5CDD505-2E9C-101B-9397-08002B2CF9AE}" pid="3" name="KSOProductBuildVer">
    <vt:lpwstr>1033-12.2.0.21179</vt:lpwstr>
  </property>
</Properties>
</file>